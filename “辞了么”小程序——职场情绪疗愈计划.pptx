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notesSlides/notesSlide1.xml" Type="http://schemas.openxmlformats.org/officeDocument/2006/relationships/notesSlide"/><Relationship Id="rId25" Target="notesSlides/notesSlide2.xml" Type="http://schemas.openxmlformats.org/officeDocument/2006/relationships/notesSlide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34" Target="notesSlides/notesSlide11.xml" Type="http://schemas.openxmlformats.org/officeDocument/2006/relationships/notesSlide"/><Relationship Id="rId35" Target="notesSlides/notesSlide12.xml" Type="http://schemas.openxmlformats.org/officeDocument/2006/relationships/notesSlide"/><Relationship Id="rId36" Target="notesSlides/notesSlide13.xml" Type="http://schemas.openxmlformats.org/officeDocument/2006/relationships/notesSlide"/><Relationship Id="rId37" Target="notesSlides/notesSlide14.xml" Type="http://schemas.openxmlformats.org/officeDocument/2006/relationships/notesSlide"/><Relationship Id="rId38" Target="notesSlides/notesSlide15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今天我们带来的项目是“辞了么”，一个与众不同的职场情绪疗愈小程序。我们发现，当代职场人面临着巨大的情绪压力，但传统的安慰和说教往往无效。我们的核心宗旨是“负负得正”——先彻底认同和释放负面情绪，再引导用户走向理性行动。我们相信，每一种情绪都值得被看见，然后才能被真正解决。接下来，我们将为大家详细介绍这个项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今天，我们将从六个方面展开介绍。首先，我们会深入分析职场人普遍面临的情绪痛点，引发共鸣。接着，我们将详细阐述我们创新的“负负得正”四步疗愈法。之后，会展示我们产品的核心功能原型。我们还会探讨市场策略、商业模式，并重点展示我们今天已经完成的推进工作，以证明我们的执行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让我们先来看一组触目惊心的数据。根据《2025年中国职场心理健康白皮书》，超过76%的职场人经历过情绪崩溃，近四成的人每月都会崩溃一次。这些冰冷的数字背后，是无数职场人的真实困境。他们想辞职又不敢，情绪无处诉说，说了还可能被指责矫情。传统的安慰方式已经失效，这正是我们项目要解决的核心痛点：为这些无处安放的情绪，找到一个出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针对这些痛点，我们提出了创新的“负负得正”四步疗愈法。这是一个完整的情绪疗愈闭环。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第一步，通过AI共情接纳，让用户安全地宣泄情绪。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第二步，通过游戏化释放，将负面能量转化为有趣的互动。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第三步，通过社交化实践，引导用户从线上走到线下，建立真实连接。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最后，通过理性化工具，帮助用户从情绪中抽离，做出明智决策。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我们的核心创新在于，不否定负面情绪，而是把它看作一个自我探索的起点。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我们的第一个核心功能，是“辞了”AI对话伙伴。它不是一个冷冰冰的机器人，而是一个懂你的“职场嘴替”。它不会说教，只会说“我懂你”。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它的对话逻辑基于心理学中的接纳承诺疗法，引导用户接纳自己的情绪，而不是压抑它。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今天，我们已经完成了核心对话脚本的框架，证明了这个功能是可实现的。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步，我们通过游戏化的方式帮助用户释放情绪。比如“痛击老板”这个小游戏，用户可以尽情地“打地鼠”，把工作中的压力和不满都发泄出来。还有“行业黑话模拟器”，用幽默的方式解构职场的荒诞。这些游戏的目的，是让用户在安全的虚拟环境中，将抽象的负面情绪转化为具体的、有趣的互动，从而获得掌控感。今天，我们已经完成了其中一个游戏的核心玩法设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线上的疗愈是基础，但真实的连接能带来更深的力量。因此，我们设计了线下社交引导模块。我们会组织“同城发泄局”，比如一起去体验拳击，或者举办“职场故事酒馆”沙龙。我们的目标是帮助用户打破孤独感，意识到自己并不孤单。今天，我们已经开始着手联系线下的合作场地，为这个功能的落地做准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一步，也是最关键的一步，是帮助用户回归理性。我们提供一套理性决策工具箱。比如“辞职冷静期”清单，我们会用30天的时间，引导用户去更新简历、学习技能，而不是一时冲动。还有职业规划自测，帮助用户看清问题的本质。今天，我们已经完成了这份30天清单的内容框架，确保它能真正帮助用户行动起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目标用户非常明确，就是22到35岁的都市职场人。他们身处高压行业，感到焦虑和迷茫，习惯用手机解决问题。我们将他们细分为犹豫辞职者、情绪内耗者和寻求转型者。为了验证需求，我们今天已经完成了3份用户访谈，他们的真实反馈让我们更加确信，我们正在解决一个真实且迫切的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对于冷启动，我们计划分三步走。首先通过小红书、抖音的内容营销精准引流。然后将用户导入我们的社群，通过精细化运营建立信任。最后通过产品本身的社交裂变功能实现增长。值得一提的是，我们今天已经行动起来，创建了初始的种子用户微信群，并成功吸引了第一批成员，这证明了我们策略的有效性和团队的执行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商业模式是多元化的。首先，我们可以作为企业的EAP福利包，切入百亿级的企业服务市场。其次，我们可以为C端用户提供高级职业规划等增值服务。此外，我们还可以通过与线下场馆、招聘平台合作获得分成。最后，我们积累的匿名数据本身就是极具价值的资产。我们相信，这个项目不仅能解决用户的痛点，更具备巨大的商业潜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我们的团队优势在于能力的复合性，涵盖了产品、心理、运营和开发。更重要的是，我们是一个行动导向的团队。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今天，我们每个人都完成了分配的任务，从产品设计到用户访谈，再到技术验证，这充分证明了我们的执行力和协作能力。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我们不是只停留在想法，我们正在将想法变为现实。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对于下一步，我们有非常清晰的规划。比赛结束后，我们将立即打磨MVP并邀请种子用户测试，同时启动打卡挑战收集反馈，并着手推进线下合作。我们深知比赛提供的“7天共创实验”是一个宝贵的机会，我们已经为此做好了充分准备，并制定了详细的计划。我们渴望获得这个机会，全力以赴地将“辞了么”推向市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想总结一下我们今天的核心成果。我们不仅完成了产品的完整逻辑定义，还通过用户访谈和社群搭建验证了需求的真实性。更重要的是，我们已经构建了核心功能的原型。这些实质性的进展，证明了我们团队的执行力和将想法变为现实的能力。我们不是空谈者，我们是行动者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再次回到我们的理念：让负面更负面，负负得正。我们相信，只有直面情绪，才能真正超越情绪。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我们已经迈出了第一步，现在，我们诚挚地邀请各位评委和合作伙伴，与我们一起，共同创造一个能真正疗愈这一代职场人的产品。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谢谢大家。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notesSlides/notesSlide3.xml" Type="http://schemas.openxmlformats.org/officeDocument/2006/relationships/notesSlide"/><Relationship Id="rId2" Target="../media/image2.jpeg" Type="http://schemas.openxmlformats.org/officeDocument/2006/relationships/image"/><Relationship Id="rId3" Target="../media/image3.jpe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0.svg" Type="http://schemas.openxmlformats.org/officeDocument/2006/relationships/image"/><Relationship Id="rId11" Target="../media/image21.png" Type="http://schemas.openxmlformats.org/officeDocument/2006/relationships/image"/><Relationship Id="rId12" Target="../media/image22.svg" Type="http://schemas.openxmlformats.org/officeDocument/2006/relationships/image"/><Relationship Id="rId13" Target="../notesSlides/notesSlide4.xml" Type="http://schemas.openxmlformats.org/officeDocument/2006/relationships/notesSlide"/><Relationship Id="rId2" Target="../media/image12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5.xml" Type="http://schemas.openxmlformats.org/officeDocument/2006/relationships/notesSlide"/><Relationship Id="rId2" Target="../media/image2.jpeg" Type="http://schemas.openxmlformats.org/officeDocument/2006/relationships/image"/><Relationship Id="rId3" Target="../media/image23.jpe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26.png" Type="http://schemas.openxmlformats.org/officeDocument/2006/relationships/image"/><Relationship Id="rId9" Target="../media/image2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Relationship Id="rId7" Target="../media/image30.jpeg" Type="http://schemas.openxmlformats.org/officeDocument/2006/relationships/image"/><Relationship Id="rId8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1.png" Type="http://schemas.openxmlformats.org/officeDocument/2006/relationships/image"/><Relationship Id="rId4" Target="../media/image32.svg" Type="http://schemas.openxmlformats.org/officeDocument/2006/relationships/image"/><Relationship Id="rId5" Target="../media/image33.png" Type="http://schemas.openxmlformats.org/officeDocument/2006/relationships/image"/><Relationship Id="rId6" Target="../media/image34.svg" Type="http://schemas.openxmlformats.org/officeDocument/2006/relationships/image"/><Relationship Id="rId7" Target="../media/image35.jpeg" Type="http://schemas.openxmlformats.org/officeDocument/2006/relationships/image"/><Relationship Id="rId8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8.xml" Type="http://schemas.openxmlformats.org/officeDocument/2006/relationships/notesSlide"/><Relationship Id="rId2" Target="../media/image2.jpeg" Type="http://schemas.openxmlformats.org/officeDocument/2006/relationships/image"/><Relationship Id="rId3" Target="../media/image36.png" Type="http://schemas.openxmlformats.org/officeDocument/2006/relationships/image"/><Relationship Id="rId4" Target="../media/image37.svg" Type="http://schemas.openxmlformats.org/officeDocument/2006/relationships/image"/><Relationship Id="rId5" Target="../media/image38.png" Type="http://schemas.openxmlformats.org/officeDocument/2006/relationships/image"/><Relationship Id="rId6" Target="../media/image39.svg" Type="http://schemas.openxmlformats.org/officeDocument/2006/relationships/image"/><Relationship Id="rId7" Target="../media/image40.png" Type="http://schemas.openxmlformats.org/officeDocument/2006/relationships/image"/><Relationship Id="rId8" Target="../media/image41.svg" Type="http://schemas.openxmlformats.org/officeDocument/2006/relationships/image"/><Relationship Id="rId9" Target="../media/image4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9.xml" Type="http://schemas.openxmlformats.org/officeDocument/2006/relationships/notesSlide"/><Relationship Id="rId2" Target="../media/image2.jpeg" Type="http://schemas.openxmlformats.org/officeDocument/2006/relationships/image"/><Relationship Id="rId3" Target="../media/image43.jpeg" Type="http://schemas.openxmlformats.org/officeDocument/2006/relationships/image"/><Relationship Id="rId4" Target="../media/image44.png" Type="http://schemas.openxmlformats.org/officeDocument/2006/relationships/image"/><Relationship Id="rId5" Target="../media/image45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46.png" Type="http://schemas.openxmlformats.org/officeDocument/2006/relationships/image"/><Relationship Id="rId9" Target="../media/image4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3.jpeg" Type="http://schemas.openxmlformats.org/officeDocument/2006/relationships/image"/><Relationship Id="rId11" Target="../media/image26.png" Type="http://schemas.openxmlformats.org/officeDocument/2006/relationships/image"/><Relationship Id="rId12" Target="../media/image27.svg" Type="http://schemas.openxmlformats.org/officeDocument/2006/relationships/image"/><Relationship Id="rId13" Target="../notesSlides/notesSlide10.xml" Type="http://schemas.openxmlformats.org/officeDocument/2006/relationships/notesSlide"/><Relationship Id="rId2" Target="../media/image2.jpeg" Type="http://schemas.openxmlformats.org/officeDocument/2006/relationships/image"/><Relationship Id="rId3" Target="../media/image48.png" Type="http://schemas.openxmlformats.org/officeDocument/2006/relationships/image"/><Relationship Id="rId4" Target="../media/image49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50.png" Type="http://schemas.openxmlformats.org/officeDocument/2006/relationships/image"/><Relationship Id="rId8" Target="../media/image51.svg" Type="http://schemas.openxmlformats.org/officeDocument/2006/relationships/image"/><Relationship Id="rId9" Target="../media/image5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1.svg" Type="http://schemas.openxmlformats.org/officeDocument/2006/relationships/image"/><Relationship Id="rId11" Target="../media/image62.png" Type="http://schemas.openxmlformats.org/officeDocument/2006/relationships/image"/><Relationship Id="rId12" Target="../media/image63.svg" Type="http://schemas.openxmlformats.org/officeDocument/2006/relationships/image"/><Relationship Id="rId13" Target="../media/image64.png" Type="http://schemas.openxmlformats.org/officeDocument/2006/relationships/image"/><Relationship Id="rId14" Target="../media/image65.svg" Type="http://schemas.openxmlformats.org/officeDocument/2006/relationships/image"/><Relationship Id="rId15" Target="../notesSlides/notesSlide11.xml" Type="http://schemas.openxmlformats.org/officeDocument/2006/relationships/notesSlide"/><Relationship Id="rId2" Target="../media/image2.jpeg" Type="http://schemas.openxmlformats.org/officeDocument/2006/relationships/image"/><Relationship Id="rId3" Target="../media/image54.jpeg" Type="http://schemas.openxmlformats.org/officeDocument/2006/relationships/image"/><Relationship Id="rId4" Target="../media/image55.jpeg" Type="http://schemas.openxmlformats.org/officeDocument/2006/relationships/image"/><Relationship Id="rId5" Target="../media/image56.png" Type="http://schemas.openxmlformats.org/officeDocument/2006/relationships/image"/><Relationship Id="rId6" Target="../media/image57.svg" Type="http://schemas.openxmlformats.org/officeDocument/2006/relationships/image"/><Relationship Id="rId7" Target="../media/image58.png" Type="http://schemas.openxmlformats.org/officeDocument/2006/relationships/image"/><Relationship Id="rId8" Target="../media/image59.svg" Type="http://schemas.openxmlformats.org/officeDocument/2006/relationships/image"/><Relationship Id="rId9" Target="../media/image6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73.svg" Type="http://schemas.openxmlformats.org/officeDocument/2006/relationships/image"/><Relationship Id="rId11" Target="../notesSlides/notesSlide12.xml" Type="http://schemas.openxmlformats.org/officeDocument/2006/relationships/notesSlide"/><Relationship Id="rId2" Target="../media/image2.jpeg" Type="http://schemas.openxmlformats.org/officeDocument/2006/relationships/image"/><Relationship Id="rId3" Target="../media/image66.png" Type="http://schemas.openxmlformats.org/officeDocument/2006/relationships/image"/><Relationship Id="rId4" Target="../media/image67.svg" Type="http://schemas.openxmlformats.org/officeDocument/2006/relationships/image"/><Relationship Id="rId5" Target="../media/image68.png" Type="http://schemas.openxmlformats.org/officeDocument/2006/relationships/image"/><Relationship Id="rId6" Target="../media/image69.svg" Type="http://schemas.openxmlformats.org/officeDocument/2006/relationships/image"/><Relationship Id="rId7" Target="../media/image70.png" Type="http://schemas.openxmlformats.org/officeDocument/2006/relationships/image"/><Relationship Id="rId8" Target="../media/image71.svg" Type="http://schemas.openxmlformats.org/officeDocument/2006/relationships/image"/><Relationship Id="rId9" Target="../media/image7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81.svg" Type="http://schemas.openxmlformats.org/officeDocument/2006/relationships/image"/><Relationship Id="rId11" Target="../media/image82.png" Type="http://schemas.openxmlformats.org/officeDocument/2006/relationships/image"/><Relationship Id="rId12" Target="../media/image83.svg" Type="http://schemas.openxmlformats.org/officeDocument/2006/relationships/image"/><Relationship Id="rId13" Target="../notesSlides/notesSlide13.xml" Type="http://schemas.openxmlformats.org/officeDocument/2006/relationships/notesSlide"/><Relationship Id="rId2" Target="../media/image2.jpeg" Type="http://schemas.openxmlformats.org/officeDocument/2006/relationships/image"/><Relationship Id="rId3" Target="../media/image74.png" Type="http://schemas.openxmlformats.org/officeDocument/2006/relationships/image"/><Relationship Id="rId4" Target="../media/image75.svg" Type="http://schemas.openxmlformats.org/officeDocument/2006/relationships/image"/><Relationship Id="rId5" Target="../media/image76.png" Type="http://schemas.openxmlformats.org/officeDocument/2006/relationships/image"/><Relationship Id="rId6" Target="../media/image77.svg" Type="http://schemas.openxmlformats.org/officeDocument/2006/relationships/image"/><Relationship Id="rId7" Target="../media/image78.png" Type="http://schemas.openxmlformats.org/officeDocument/2006/relationships/image"/><Relationship Id="rId8" Target="../media/image79.svg" Type="http://schemas.openxmlformats.org/officeDocument/2006/relationships/image"/><Relationship Id="rId9" Target="../media/image8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84.png" Type="http://schemas.openxmlformats.org/officeDocument/2006/relationships/image"/><Relationship Id="rId4" Target="../media/image85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86.png" Type="http://schemas.openxmlformats.org/officeDocument/2006/relationships/image"/><Relationship Id="rId8" Target="../media/image87.svg" Type="http://schemas.openxmlformats.org/officeDocument/2006/relationships/image"/><Relationship Id="rId9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8.jpeg" Type="http://schemas.openxmlformats.org/officeDocument/2006/relationships/image"/><Relationship Id="rId3" Target="../notesSlides/notesSlide15.xml" Type="http://schemas.openxmlformats.org/officeDocument/2006/relationships/notesSlide"/><Relationship Id="rId4" Target="../media/image8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2032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辞了么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3175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一个让职场情绪“负负得正”的疗愈小程序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4064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你的情绪，值得先被“看见”，再被“解决”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715000" y="4889500"/>
            <a:ext cx="762000" cy="50800"/>
          </a:xfrm>
          <a:prstGeom prst="roundRect">
            <a:avLst>
              <a:gd name="adj" fmla="val 5000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54610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[团队名称] | [赛事信息]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635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我们今日将呈现什么？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2032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905000"/>
            <a:ext cx="889000" cy="889000"/>
          </a:xfrm>
          <a:prstGeom prst="ellipse">
            <a:avLst/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108200"/>
            <a:ext cx="88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159000" y="19050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痛点共鸣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159000" y="2413000"/>
            <a:ext cx="355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我们为谁解决何种“燃眉之急”，直击用户内心深处的焦虑。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2385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2032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3492500"/>
            <a:ext cx="889000" cy="889000"/>
          </a:xfrm>
          <a:prstGeom prst="ellipse">
            <a:avLst/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3695700"/>
            <a:ext cx="88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159000" y="34925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2159000" y="4000500"/>
            <a:ext cx="355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独创“负负得正”四步疗愈法，用系统化的流程引导情绪回归。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4826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2032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5080000"/>
            <a:ext cx="889000" cy="889000"/>
          </a:xfrm>
          <a:prstGeom prst="ellipse">
            <a:avLst/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16000" y="5283200"/>
            <a:ext cx="88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2159000" y="50800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产品核心展示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2159000" y="5588000"/>
            <a:ext cx="355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展示今日完成的交互原型与核心流程验证，直观呈现产品形态。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223000" y="1651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2032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477000" y="1905000"/>
            <a:ext cx="889000" cy="889000"/>
          </a:xfrm>
          <a:prstGeom prst="ellipse">
            <a:avLst/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477000" y="2108200"/>
            <a:ext cx="88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0" y="19050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市场与增长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0" y="2413000"/>
            <a:ext cx="355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探讨冷启动策略，如何精准找到并获取第一批真实的种子用户。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223000" y="32385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2032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477000" y="3492500"/>
            <a:ext cx="889000" cy="889000"/>
          </a:xfrm>
          <a:prstGeom prst="ellipse">
            <a:avLst/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477000" y="3695700"/>
            <a:ext cx="88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620000" y="34925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商业模式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620000" y="4000500"/>
            <a:ext cx="355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解析从初期“被用户需要”，到长期具备商业价值“有潜力”的路径。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223000" y="4826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2032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477000" y="5080000"/>
            <a:ext cx="889000" cy="889000"/>
          </a:xfrm>
          <a:prstGeom prst="ellipse">
            <a:avLst/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477000" y="5283200"/>
            <a:ext cx="88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7620000" y="50800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今日推进重点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7620000" y="5588000"/>
            <a:ext cx="355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紧密呼应比赛规则，详细展示团队当前的执行进度与下一步计划。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痛点分析——被忽视的职场情绪“垃圾”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1243" b="1243"/>
          <a:stretch>
            <a:fillRect/>
          </a:stretch>
        </p:blipFill>
        <p:spPr>
          <a:xfrm rot="0" flipH="false" flipV="false">
            <a:off x="762000" y="1524000"/>
            <a:ext cx="3302000" cy="4826000"/>
          </a:xfrm>
          <a:prstGeom prst="roundRect">
            <a:avLst>
              <a:gd name="adj" fmla="val 6153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76200" blurRad="203200" algn="tl" rotWithShape="false">
              <a:srgbClr val="000000">
                <a:alpha val="12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4318000" y="1524000"/>
            <a:ext cx="7112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38100" blurRad="1270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508500" y="1714500"/>
            <a:ext cx="2159000" cy="1016000"/>
          </a:xfrm>
          <a:prstGeom prst="roundRect">
            <a:avLst>
              <a:gd name="adj" fmla="val 10000"/>
            </a:avLst>
          </a:prstGeom>
          <a:solidFill>
            <a:srgbClr val="FFF7E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635500" y="1841500"/>
            <a:ext cx="190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76.8%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635500" y="2286000"/>
            <a:ext cx="1905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职场人曾出现情绪崩溃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794500" y="1714500"/>
            <a:ext cx="2159000" cy="1016000"/>
          </a:xfrm>
          <a:prstGeom prst="roundRect">
            <a:avLst>
              <a:gd name="adj" fmla="val 10000"/>
            </a:avLst>
          </a:prstGeom>
          <a:solidFill>
            <a:srgbClr val="FFF7E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921500" y="1841500"/>
            <a:ext cx="190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38.2%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921500" y="2286000"/>
            <a:ext cx="1905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每月至少经历崩溃1次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080500" y="1714500"/>
            <a:ext cx="2159000" cy="1016000"/>
          </a:xfrm>
          <a:prstGeom prst="roundRect">
            <a:avLst>
              <a:gd name="adj" fmla="val 10000"/>
            </a:avLst>
          </a:prstGeom>
          <a:solidFill>
            <a:srgbClr val="FFF7E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207500" y="1841500"/>
            <a:ext cx="190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48.6</a:t>
            </a:r>
            <a:r>
              <a:rPr lang="en-US" b="false" i="false" strike="noStrike" u="none" sz="14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分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207500" y="2286000"/>
            <a:ext cx="1905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平均压力指数(中度压力)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318000" y="3048000"/>
            <a:ext cx="7112000" cy="1206500"/>
          </a:xfrm>
          <a:prstGeom prst="roundRect">
            <a:avLst>
              <a:gd name="adj" fmla="val 12631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38100" blurRad="1270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508500" y="3175000"/>
            <a:ext cx="6731000" cy="952500"/>
          </a:xfrm>
          <a:prstGeom prst="roundRect">
            <a:avLst>
              <a:gd name="adj" fmla="val 10666"/>
            </a:avLst>
          </a:prstGeom>
          <a:solidFill>
            <a:srgbClr val="FFF1F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635500" y="3276600"/>
            <a:ext cx="647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💬 “提了离职不敢走，每天在崩溃边缘。” | “情绪无处说，说了被说‘矫情’。” | “想辞职是冲动，但后续规划一片空白。”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318000" y="4445000"/>
            <a:ext cx="3429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38100" blurRad="1270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508500" y="45720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核心痛点：“三无”困境</a:t>
            </a:r>
            <a:endParaRPr lang="en-US" sz="1100"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508500" y="4978400"/>
            <a:ext cx="203200" cy="2032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4826000" y="4953000"/>
            <a:ext cx="279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情绪无出口：负面情绪积压无法宣泄</a:t>
            </a:r>
            <a:endParaRPr lang="en-US" sz="1100"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508500" y="5295900"/>
            <a:ext cx="203200" cy="2032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4826000" y="5270500"/>
            <a:ext cx="279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决策不理性：被情绪左右难下定论</a:t>
            </a:r>
            <a:endParaRPr lang="en-US" sz="1100"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4508500" y="5613400"/>
            <a:ext cx="203200" cy="2032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4826000" y="5588000"/>
            <a:ext cx="279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行动无指引：陷入迷茫不知何去何从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874000" y="4445000"/>
            <a:ext cx="3556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38100" blurRad="1270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064500" y="4572000"/>
            <a:ext cx="317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传统解决方式：治标不治本</a:t>
            </a:r>
            <a:endParaRPr lang="en-US" sz="1100"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8064500" y="4978400"/>
            <a:ext cx="203200" cy="203200"/>
          </a:xfrm>
          <a:prstGeom prst="rect">
            <a:avLst/>
          </a:prstGeom>
        </p:spPr>
      </p:pic>
      <p:sp>
        <p:nvSpPr>
          <p:cNvPr name="AutoShape 29" id="29"/>
          <p:cNvSpPr/>
          <p:nvPr/>
        </p:nvSpPr>
        <p:spPr>
          <a:xfrm rot="0" flipH="false" flipV="false">
            <a:off x="8382000" y="4953000"/>
            <a:ext cx="2921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朋友安慰：隔靴搔痒，无法深度共情</a:t>
            </a:r>
            <a:endParaRPr lang="en-US" sz="1100"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8064500" y="5295900"/>
            <a:ext cx="203200" cy="203200"/>
          </a:xfrm>
          <a:prstGeom prst="rect">
            <a:avLst/>
          </a:prstGeom>
        </p:spPr>
      </p:pic>
      <p:sp>
        <p:nvSpPr>
          <p:cNvPr name="AutoShape 31" id="31"/>
          <p:cNvSpPr/>
          <p:nvPr/>
        </p:nvSpPr>
        <p:spPr>
          <a:xfrm rot="0" flipH="false" flipV="false">
            <a:off x="8382000" y="5270500"/>
            <a:ext cx="2921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心理咨询：专业门槛高，经济成本不菲</a:t>
            </a:r>
            <a:endParaRPr lang="en-US" sz="1100"/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8064500" y="5613400"/>
            <a:ext cx="203200" cy="203200"/>
          </a:xfrm>
          <a:prstGeom prst="rect">
            <a:avLst/>
          </a:prstGeom>
        </p:spPr>
      </p:pic>
      <p:sp>
        <p:nvSpPr>
          <p:cNvPr name="AutoShape 33" id="33"/>
          <p:cNvSpPr/>
          <p:nvPr/>
        </p:nvSpPr>
        <p:spPr>
          <a:xfrm rot="0" flipH="false" flipV="false">
            <a:off x="8382000" y="5588000"/>
            <a:ext cx="2921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鸡汤文章：流于表面，缺乏实际解决方案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解决方案总览——“负负得正”四步疗愈法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207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524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778000"/>
            <a:ext cx="889000" cy="889000"/>
          </a:xfrm>
          <a:prstGeom prst="ellipse">
            <a:avLst/>
          </a:prstGeom>
          <a:solidFill>
            <a:srgbClr val="F9731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257300" y="20193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2159000" y="17145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01. AI共情接纳 (线上宣泄)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159000" y="2159000"/>
            <a:ext cx="355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基于接纳承诺疗法（ACT），AI伙伴不评判、只共情，引导用户安全接纳当下的负面情绪。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1524000"/>
            <a:ext cx="5207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524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477000" y="1778000"/>
            <a:ext cx="889000" cy="889000"/>
          </a:xfrm>
          <a:prstGeom prst="ellipse">
            <a:avLst/>
          </a:prstGeom>
          <a:solidFill>
            <a:srgbClr val="F9731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718300" y="20193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7620000" y="17145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02. 游戏化释放 (趣味转化)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0" y="2159000"/>
            <a:ext cx="355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基于游戏化心理干预机制，通过轻量减压小游戏，将抽象的负面情绪转化为可视化的趣味互动。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3302000"/>
            <a:ext cx="5207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524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3556000"/>
            <a:ext cx="889000" cy="889000"/>
          </a:xfrm>
          <a:prstGeom prst="ellipse">
            <a:avLst/>
          </a:prstGeom>
          <a:solidFill>
            <a:srgbClr val="F9731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257300" y="37973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2159000" y="34925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03. 社交化实践 (线下引导)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2159000" y="3937000"/>
            <a:ext cx="355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引导用户参与线下合规、低压力的兴趣活动，构建轻度真实社交圈，有效打破孤立无援的孤独感。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223000" y="3302000"/>
            <a:ext cx="5207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524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477000" y="3556000"/>
            <a:ext cx="889000" cy="889000"/>
          </a:xfrm>
          <a:prstGeom prst="ellipse">
            <a:avLst/>
          </a:prstGeom>
          <a:solidFill>
            <a:srgbClr val="F9731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718300" y="3797300"/>
            <a:ext cx="406400" cy="4064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7620000" y="34925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04. 理性化工具 (决策支持)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0" y="3937000"/>
            <a:ext cx="355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基于认知行为疗法（CBT），提供科学的决策工具箱，帮助用户从情绪中抽离，进行理性的利弊分析。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2000" y="5080000"/>
            <a:ext cx="10668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F97316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1016000" y="5334000"/>
            <a:ext cx="635000" cy="635000"/>
          </a:xfrm>
          <a:prstGeom prst="ellipse">
            <a:avLst/>
          </a:prstGeom>
          <a:solidFill>
            <a:srgbClr val="F9731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181100" y="5499100"/>
            <a:ext cx="304800" cy="3048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1905000" y="5270500"/>
            <a:ext cx="927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核心创新 Insight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1905000" y="5651500"/>
            <a:ext cx="927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不否定“想辞职”的负面情绪，而是承认其合理性，并将其巧妙转化为用户进行自我探索、情绪调节和理性决策的全新起点。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核心功能详述（1）—— “辞了”AI对话伙伴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2794000" cy="4826000"/>
          </a:xfrm>
          <a:prstGeom prst="roundRect">
            <a:avLst>
              <a:gd name="adj" fmla="val 7272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254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301" r="301" t="0" b="0"/>
          <a:stretch>
            <a:fillRect/>
          </a:stretch>
        </p:blipFill>
        <p:spPr>
          <a:xfrm rot="0" flipH="false" flipV="false">
            <a:off x="952500" y="1778000"/>
            <a:ext cx="2413000" cy="4318000"/>
          </a:xfrm>
          <a:prstGeom prst="roundRect">
            <a:avLst>
              <a:gd name="adj" fmla="val 6315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3810000" y="1524000"/>
            <a:ext cx="7620000" cy="152400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5400000" dist="25400" blurRad="1905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064000" y="1714500"/>
            <a:ext cx="812800" cy="812800"/>
          </a:xfrm>
          <a:prstGeom prst="ellipse">
            <a:avLst/>
          </a:prstGeom>
          <a:solidFill>
            <a:srgbClr val="F9731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216400" y="1866900"/>
            <a:ext cx="508000" cy="508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5080000" y="1651000"/>
            <a:ext cx="609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AI人设：职场嘴替闺蜜/兄弟 · 绝对保密的倾听者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080000" y="2159000"/>
            <a:ext cx="609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拒绝生硬说教，主打“情绪共情”。话术示例：“这破班一天也上不下去了是吧，我懂！”、“你老板这么做事简直了…来，详细说说？”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810000" y="3302000"/>
            <a:ext cx="7620000" cy="1651000"/>
          </a:xfrm>
          <a:prstGeom prst="roundRect">
            <a:avLst>
              <a:gd name="adj" fmla="val 12307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5400000" dist="25400" blurRad="1905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064000" y="3619500"/>
            <a:ext cx="812800" cy="812800"/>
          </a:xfrm>
          <a:prstGeom prst="ellipse">
            <a:avLst/>
          </a:prstGeom>
          <a:solidFill>
            <a:srgbClr val="F9731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216400" y="3771900"/>
            <a:ext cx="508000" cy="508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5080000" y="3492500"/>
            <a:ext cx="609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核心技术：基于 ACT 的引导式对话逻辑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080000" y="4000500"/>
            <a:ext cx="609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● 接纳：肯定情绪合理性，不做评判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● 解离：帮助用户与负面想法拉开心理距离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● 澄清：引导用户聚焦于自身真正的价值方向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3810000" y="5207000"/>
            <a:ext cx="7620000" cy="1143000"/>
          </a:xfrm>
          <a:prstGeom prst="roundRect">
            <a:avLst>
              <a:gd name="adj" fmla="val 17777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5400000" dist="25400" blurRad="1905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064000" y="5397500"/>
            <a:ext cx="812800" cy="812800"/>
          </a:xfrm>
          <a:prstGeom prst="ellipse">
            <a:avLst/>
          </a:prstGeom>
          <a:solidFill>
            <a:srgbClr val="F9731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4216400" y="5549900"/>
            <a:ext cx="508000" cy="5080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5080000" y="5334000"/>
            <a:ext cx="609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今日里程碑：核心对话脚本框架 V1.0 完成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5080000" y="5715000"/>
            <a:ext cx="609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已编写 50+ 条核心共情与引导话术，已具备基础对话逻辑闭环能力，可进行 Demo 演示。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核心功能详述（2）—— 游戏化释放模块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207000" cy="1079500"/>
          </a:xfrm>
          <a:prstGeom prst="roundRect">
            <a:avLst>
              <a:gd name="adj" fmla="val 14117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651000"/>
            <a:ext cx="469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🎯 功能定位：虚拟情绪宣泄室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0320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打造一个绝对安全、无压力的虚拟空间，让用户可以将积压的职场负面情绪，通过游戏的方式进行无害释放。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794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9845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587500" y="2984500"/>
            <a:ext cx="190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“痛击老板” 减压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587500" y="3365500"/>
            <a:ext cx="203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点击打地鼠，目标是“PUA话术”、“甩锅侠”等压力源形象。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5354166" flipH="false" flipV="false">
            <a:off x="3206750" y="3454442"/>
            <a:ext cx="95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873500" y="29845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4445000" y="2984500"/>
            <a:ext cx="139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黑话模拟器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445000" y="3365500"/>
            <a:ext cx="139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正常话转“互联网黑话”，用幽默解构职场荒诞。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4381500"/>
            <a:ext cx="5207000" cy="1079500"/>
          </a:xfrm>
          <a:prstGeom prst="roundRect">
            <a:avLst>
              <a:gd name="adj" fmla="val 14117"/>
            </a:avLst>
          </a:prstGeom>
          <a:solidFill>
            <a:srgbClr val="FFF7ED">
              <a:alpha val="100000"/>
            </a:srgbClr>
          </a:solidFill>
          <a:ln w="12700" cmpd="sng" cap="flat">
            <a:solidFill>
              <a:srgbClr val="FDBA74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16000" y="4508500"/>
            <a:ext cx="469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EA580C"/>
                </a:solidFill>
                <a:latin typeface="Noto Sans SC"/>
                <a:ea typeface="Noto Sans SC"/>
                <a:cs typeface="Noto Sans SC"/>
                <a:sym typeface="Noto Sans SC"/>
              </a:rPr>
              <a:t>✨ 核心心理价值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6000" y="48895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将抽象情绪转化为具体的互动体验，帮助用户实现认知重构，在游戏中获得即时的掌控感和心理快感。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5588000"/>
            <a:ext cx="5207000" cy="952500"/>
          </a:xfrm>
          <a:prstGeom prst="roundRect">
            <a:avLst>
              <a:gd name="adj" fmla="val 1600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16000" y="5689600"/>
            <a:ext cx="4699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🚀 今日开发进度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016000" y="59944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已完成“痛击老板”核心玩法草图及规则设计，包含10种压力形象与音效。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223000" y="1524000"/>
            <a:ext cx="3556000" cy="5016500"/>
          </a:xfrm>
          <a:prstGeom prst="roundRect">
            <a:avLst>
              <a:gd name="adj" fmla="val 5714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101600" blurRad="317500" algn="tl" rotWithShape="false">
              <a:srgbClr val="000000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7"/>
          <a:srcRect l="0" r="0" t="694" b="694"/>
          <a:stretch>
            <a:fillRect/>
          </a:stretch>
        </p:blipFill>
        <p:spPr>
          <a:xfrm rot="0" flipH="false" flipV="false">
            <a:off x="6477000" y="1778000"/>
            <a:ext cx="3048000" cy="4508500"/>
          </a:xfrm>
          <a:prstGeom prst="roundRect">
            <a:avLst>
              <a:gd name="adj" fmla="val 5000"/>
            </a:avLst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核心功能详述（3）—— 线下社交引导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207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651000"/>
            <a:ext cx="4699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🎯 功能定位：从线上“疗愈”到线下“连接”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0955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打破单纯的线上虚拟陪伴壁垒，通过真实的物理空间互动，建立深度的情感连接场域。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921000"/>
            <a:ext cx="5207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111500"/>
            <a:ext cx="4699000" cy="635000"/>
          </a:xfrm>
          <a:prstGeom prst="roundRect">
            <a:avLst>
              <a:gd name="adj" fmla="val 16000"/>
            </a:avLst>
          </a:prstGeom>
          <a:solidFill>
            <a:srgbClr val="FFF7E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206500" y="3251200"/>
            <a:ext cx="355600" cy="355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778000" y="3149600"/>
            <a:ext cx="381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同城发泄局：</a:t>
            </a: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组织拳击体验、吐槽大会等合规活动，释放压力。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3873500"/>
            <a:ext cx="4699000" cy="635000"/>
          </a:xfrm>
          <a:prstGeom prst="roundRect">
            <a:avLst>
              <a:gd name="adj" fmla="val 16000"/>
            </a:avLst>
          </a:prstGeom>
          <a:solidFill>
            <a:srgbClr val="FFF7E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206500" y="4013200"/>
            <a:ext cx="355600" cy="355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778000" y="3911600"/>
            <a:ext cx="381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职场故事酒馆：</a:t>
            </a: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联合合作场地举办沙龙，深度分享与倾听职场经历。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4826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5016500"/>
            <a:ext cx="2286000" cy="1016000"/>
          </a:xfrm>
          <a:prstGeom prst="roundRect">
            <a:avLst>
              <a:gd name="adj" fmla="val 10000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143000" y="5080000"/>
            <a:ext cx="203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✨ 核心价值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143000" y="5397500"/>
            <a:ext cx="203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构建轻度社交，消除孤独感，让用户发现“你不是一个人”。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3429000" y="5016500"/>
            <a:ext cx="2286000" cy="1016000"/>
          </a:xfrm>
          <a:prstGeom prst="roundRect">
            <a:avLst>
              <a:gd name="adj" fmla="val 10000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3556000" y="5080000"/>
            <a:ext cx="203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🚀 今日推进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3556000" y="5397500"/>
            <a:ext cx="203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已筛选3家合作场馆（咖啡馆/拳击馆），并制定初步方案。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223000" y="1524000"/>
            <a:ext cx="5207000" cy="4699000"/>
          </a:xfrm>
          <a:prstGeom prst="roundRect">
            <a:avLst>
              <a:gd name="adj" fmla="val 432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76200" blurRad="254000" algn="tl" rotWithShape="false">
              <a:srgbClr val="000000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7"/>
          <a:srcRect l="12157" r="12157" t="0" b="0"/>
          <a:stretch>
            <a:fillRect/>
          </a:stretch>
        </p:blipFill>
        <p:spPr>
          <a:xfrm rot="0" flipH="false" flipV="false">
            <a:off x="6350000" y="1651000"/>
            <a:ext cx="4953000" cy="3683000"/>
          </a:xfrm>
          <a:prstGeom prst="roundRect">
            <a:avLst>
              <a:gd name="adj" fmla="val 4137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3" id="23"/>
          <p:cNvSpPr/>
          <p:nvPr/>
        </p:nvSpPr>
        <p:spPr>
          <a:xfrm rot="0" flipH="false" flipV="false">
            <a:off x="6350000" y="5461000"/>
            <a:ext cx="495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线下社交活动实景：露台观影与主题沙龙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核心功能详述（4）—— 理性决策工具箱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5334000" cy="457200"/>
          </a:xfrm>
          <a:prstGeom prst="roundRect">
            <a:avLst>
              <a:gd name="adj" fmla="val 50000"/>
            </a:avLst>
          </a:prstGeom>
          <a:solidFill>
            <a:srgbClr val="F9731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9050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EA580C"/>
                </a:solidFill>
                <a:latin typeface="Noto Sans SC"/>
                <a:ea typeface="Noto Sans SC"/>
                <a:cs typeface="Noto Sans SC"/>
                <a:sym typeface="Noto Sans SC"/>
              </a:rPr>
              <a:t>功能定位：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从“情绪脑”到“理性脑”的认知重构桥梁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5334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286000"/>
            <a:ext cx="508000" cy="508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778000" y="2159000"/>
            <a:ext cx="406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“辞职冷静期”清单 (30天)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778000" y="2540000"/>
            <a:ext cx="393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每日推送具体行动项（如更新简历、计算存款），以进度条可视化，引导用户“动起来”而非冲动决定。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302000"/>
            <a:ext cx="5334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556000"/>
            <a:ext cx="508000" cy="508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778000" y="3429000"/>
            <a:ext cx="406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职业规划深度自测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778000" y="3810000"/>
            <a:ext cx="393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通过12道核心问题的简易问卷，帮助用户厘清痛点本质：到底是“讨厌工作”本身，还是“讨厌这份工作”。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572000"/>
            <a:ext cx="5334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826000"/>
            <a:ext cx="508000" cy="508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778000" y="4699000"/>
            <a:ext cx="406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“柳暗花明”智能推荐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778000" y="5080000"/>
            <a:ext cx="393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基于用户自测数据与行为偏好，精准推送高匹配度的目标职位与公司，提供理性决策的方向参考。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5842000"/>
            <a:ext cx="5334000" cy="635000"/>
          </a:xfrm>
          <a:prstGeom prst="roundRect">
            <a:avLst>
              <a:gd name="adj" fmla="val 20000"/>
            </a:avLst>
          </a:prstGeom>
          <a:solidFill>
            <a:srgbClr val="FFF7ED">
              <a:alpha val="100000"/>
            </a:srgbClr>
          </a:solidFill>
          <a:ln w="12700" cmpd="sng" cap="flat">
            <a:solidFill>
              <a:srgbClr val="FDBA74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19050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C2410C"/>
                </a:solidFill>
                <a:latin typeface="Noto Sans SC"/>
                <a:ea typeface="Noto Sans SC"/>
                <a:cs typeface="Noto Sans SC"/>
                <a:sym typeface="Noto Sans SC"/>
              </a:rPr>
              <a:t>✨ 今日推进：</a:t>
            </a: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已完成“30天冷静期清单”V1.0框架，包含30项具体可执行的行动建议。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350000" y="1905000"/>
            <a:ext cx="5080000" cy="3556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76200" blurRad="254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9"/>
          <a:srcRect l="1304" r="1304" t="0" b="0"/>
          <a:stretch>
            <a:fillRect/>
          </a:stretch>
        </p:blipFill>
        <p:spPr>
          <a:xfrm rot="0" flipH="false" flipV="false">
            <a:off x="6477000" y="2032000"/>
            <a:ext cx="4826000" cy="3302000"/>
          </a:xfrm>
          <a:prstGeom prst="roundRect">
            <a:avLst>
              <a:gd name="adj" fmla="val 4615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0" id="20"/>
          <p:cNvSpPr/>
          <p:nvPr/>
        </p:nvSpPr>
        <p:spPr>
          <a:xfrm rot="0" flipH="false" flipV="false">
            <a:off x="6350000" y="56515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true" strike="noStrike" u="none" sz="1300" spc="100">
                <a:solidFill>
                  <a:srgbClr val="78716C"/>
                </a:solidFill>
                <a:latin typeface="Noto Sans SC"/>
                <a:ea typeface="Noto Sans SC"/>
                <a:cs typeface="Noto Sans SC"/>
                <a:sym typeface="Noto Sans SC"/>
              </a:rPr>
              <a:t>Make Decisions, Not Excuses.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目标用户画像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23046" r="23046" t="0" b="0"/>
          <a:stretch>
            <a:fillRect/>
          </a:stretch>
        </p:blipFill>
        <p:spPr>
          <a:xfrm rot="0" flipH="false" flipV="false">
            <a:off x="762000" y="1524000"/>
            <a:ext cx="3810000" cy="4699000"/>
          </a:xfrm>
          <a:prstGeom prst="roundRect">
            <a:avLst>
              <a:gd name="adj" fmla="val 5333"/>
            </a:avLst>
          </a:prstGeom>
          <a:noFill/>
          <a:ln w="25400" cmpd="sng" cap="flat">
            <a:noFill/>
            <a:prstDash val="solid"/>
            <a:round/>
          </a:ln>
          <a:effectLst>
            <a:outerShdw dir="5400000" dist="63500" blurRad="254000" algn="tl" rotWithShape="false">
              <a:srgbClr val="000000">
                <a:alpha val="10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4953000" y="1524000"/>
            <a:ext cx="6477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25400" blurRad="1905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207000" y="1651000"/>
            <a:ext cx="596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👤 核心用户：都市“夹心层”职场人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207000" y="2095500"/>
            <a:ext cx="279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年龄与职业：</a:t>
            </a: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22-35岁 (90/95后为主)，互联网/金融/媒体等高压行业的基层及初级管理者。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128000" y="2095500"/>
            <a:ext cx="304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状态与习惯：</a:t>
            </a: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焦虑内耗/社交隔离；重度手机依赖，偏好短视频，倾向于线上寻求情绪或职业帮助。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953000" y="3365500"/>
            <a:ext cx="6477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25400" blurRad="1905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207000" y="3492500"/>
            <a:ext cx="596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🔍 用户细分画像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207000" y="3937000"/>
            <a:ext cx="1905000" cy="762000"/>
          </a:xfrm>
          <a:prstGeom prst="roundRect">
            <a:avLst>
              <a:gd name="adj" fmla="val 13333"/>
            </a:avLst>
          </a:prstGeom>
          <a:solidFill>
            <a:srgbClr val="FFF7E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334000" y="40894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5715000" y="4064000"/>
            <a:ext cx="127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犹豫辞职者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0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想走不敢，纠结内耗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239000" y="3937000"/>
            <a:ext cx="1905000" cy="762000"/>
          </a:xfrm>
          <a:prstGeom prst="roundRect">
            <a:avLst>
              <a:gd name="adj" fmla="val 13333"/>
            </a:avLst>
          </a:prstGeom>
          <a:solidFill>
            <a:srgbClr val="FFF7E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366000" y="40894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7747000" y="4064000"/>
            <a:ext cx="127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情绪内耗者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0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负面情绪，无法自拔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271000" y="3937000"/>
            <a:ext cx="1905000" cy="762000"/>
          </a:xfrm>
          <a:prstGeom prst="roundRect">
            <a:avLst>
              <a:gd name="adj" fmla="val 13333"/>
            </a:avLst>
          </a:prstGeom>
          <a:solidFill>
            <a:srgbClr val="FFF7E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398000" y="4089400"/>
            <a:ext cx="304800" cy="3048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9779000" y="4064000"/>
            <a:ext cx="127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寻求转型者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0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不满现状，渴望改变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953000" y="5080000"/>
            <a:ext cx="6477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25400" blurRad="1905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207000" y="5207000"/>
            <a:ext cx="596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📈 今日推进：用户访谈验证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5207000" y="5588000"/>
            <a:ext cx="596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已完成</a:t>
            </a:r>
            <a:r>
              <a:rPr lang="en-US" b="true" i="false" strike="noStrike" u="none" sz="14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3份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互联网从业者（25-28岁）访谈摘要，用户真实反馈有效验证了焦虑、内耗等核心痛点假设。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市场与增长策略（如何冷启动）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4826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714500"/>
            <a:ext cx="762000" cy="1016000"/>
          </a:xfrm>
          <a:prstGeom prst="roundRect">
            <a:avLst>
              <a:gd name="adj" fmla="val 20000"/>
            </a:avLst>
          </a:prstGeom>
          <a:solidFill>
            <a:srgbClr val="F9731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143000" y="1968500"/>
            <a:ext cx="381000" cy="381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905000" y="1714500"/>
            <a:ext cx="355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01 / 内容营销精准引流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905000" y="2159000"/>
            <a:ext cx="342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在小红书、抖音发布#职场吐槽#、#打工人精神状态#等话题内容，吸引目标用户的精准流量关注。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175000"/>
            <a:ext cx="4826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52500" y="3365500"/>
            <a:ext cx="762000" cy="1016000"/>
          </a:xfrm>
          <a:prstGeom prst="roundRect">
            <a:avLst>
              <a:gd name="adj" fmla="val 20000"/>
            </a:avLst>
          </a:prstGeom>
          <a:solidFill>
            <a:srgbClr val="F9731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143000" y="3619500"/>
            <a:ext cx="381000" cy="381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905000" y="3365500"/>
            <a:ext cx="355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02 / 社群运营建立信任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905000" y="3810000"/>
            <a:ext cx="342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建立“职场情绪互助小组”社群，通过每日话题讨论、每周干货分享等精细化运营，持续提升用户粘性。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4826000"/>
            <a:ext cx="4826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52500" y="5016500"/>
            <a:ext cx="762000" cy="1016000"/>
          </a:xfrm>
          <a:prstGeom prst="roundRect">
            <a:avLst>
              <a:gd name="adj" fmla="val 20000"/>
            </a:avLst>
          </a:prstGeom>
          <a:solidFill>
            <a:srgbClr val="F9731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143000" y="5270500"/>
            <a:ext cx="381000" cy="3810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905000" y="5016500"/>
            <a:ext cx="355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03 / 产品驱动与活动裂变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905000" y="5461000"/>
            <a:ext cx="342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上线“情绪日记”分享、好友互助打卡等社交裂变功能，利用用户关系链实现产品的低成本自然增长。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842000" y="1524000"/>
            <a:ext cx="5588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9"/>
          <a:srcRect l="14707" r="14707" t="0" b="0"/>
          <a:stretch>
            <a:fillRect/>
          </a:stretch>
        </p:blipFill>
        <p:spPr>
          <a:xfrm rot="0" flipH="false" flipV="false">
            <a:off x="6096000" y="1714500"/>
            <a:ext cx="2413000" cy="2540000"/>
          </a:xfrm>
          <a:prstGeom prst="roundRect">
            <a:avLst>
              <a:gd name="adj" fmla="val 6315"/>
            </a:avLst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0"/>
          <a:srcRect l="0" r="0" t="16563" b="16563"/>
          <a:stretch>
            <a:fillRect/>
          </a:stretch>
        </p:blipFill>
        <p:spPr>
          <a:xfrm rot="0" flipH="false" flipV="false">
            <a:off x="8763000" y="1714500"/>
            <a:ext cx="2413000" cy="2540000"/>
          </a:xfrm>
          <a:prstGeom prst="roundRect">
            <a:avLst>
              <a:gd name="adj" fmla="val 6315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2" id="22"/>
          <p:cNvSpPr/>
          <p:nvPr/>
        </p:nvSpPr>
        <p:spPr>
          <a:xfrm rot="0" flipH="false" flipV="false">
            <a:off x="5842000" y="4699000"/>
            <a:ext cx="5588000" cy="1524000"/>
          </a:xfrm>
          <a:prstGeom prst="roundRect">
            <a:avLst>
              <a:gd name="adj" fmla="val 10000"/>
            </a:avLst>
          </a:prstGeom>
          <a:solidFill>
            <a:srgbClr val="FFF7ED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254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096000" y="4953000"/>
            <a:ext cx="711200" cy="711200"/>
          </a:xfrm>
          <a:prstGeom prst="ellipse">
            <a:avLst/>
          </a:prstGeom>
          <a:solidFill>
            <a:srgbClr val="FFEDD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248400" y="5105400"/>
            <a:ext cx="406400" cy="4064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6985000" y="4953000"/>
            <a:ext cx="4191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EA580C"/>
                </a:solidFill>
                <a:latin typeface="Noto Sans SC"/>
                <a:ea typeface="Noto Sans SC"/>
                <a:cs typeface="Noto Sans SC"/>
                <a:sym typeface="Noto Sans SC"/>
              </a:rPr>
              <a:t>✨ 今日推进里程碑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985000" y="5397500"/>
            <a:ext cx="419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已成功创建初始种子用户微信群，并发布首篇小红书内容草稿，当天吸引了</a:t>
            </a:r>
            <a:r>
              <a:rPr lang="en-US" b="true" i="false" strike="noStrike" u="none" sz="12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15+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名目标用户加入社群。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商业模式与商业潜力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9169" b="9169"/>
          <a:stretch>
            <a:fillRect/>
          </a:stretch>
        </p:blipFill>
        <p:spPr>
          <a:xfrm rot="0" flipH="false" flipV="false">
            <a:off x="762000" y="1524000"/>
            <a:ext cx="3556000" cy="2286000"/>
          </a:xfrm>
          <a:prstGeom prst="roundRect">
            <a:avLst>
              <a:gd name="adj" fmla="val 8888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50800" blurRad="190500" algn="tl" rotWithShape="false">
              <a:srgbClr val="000000">
                <a:alpha val="12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0" r="0" t="14285" b="14285"/>
          <a:stretch>
            <a:fillRect/>
          </a:stretch>
        </p:blipFill>
        <p:spPr>
          <a:xfrm rot="0" flipH="false" flipV="false">
            <a:off x="762000" y="3937000"/>
            <a:ext cx="3556000" cy="1905000"/>
          </a:xfrm>
          <a:prstGeom prst="roundRect">
            <a:avLst>
              <a:gd name="adj" fmla="val 10666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50800" blurRad="190500" algn="tl" rotWithShape="false">
              <a:srgbClr val="000000">
                <a:alpha val="12000"/>
              </a:srgbClr>
            </a:outerShdw>
          </a:effectLst>
        </p:spPr>
      </p:pic>
      <p:sp>
        <p:nvSpPr>
          <p:cNvPr name="AutoShape 6" id="6"/>
          <p:cNvSpPr/>
          <p:nvPr/>
        </p:nvSpPr>
        <p:spPr>
          <a:xfrm rot="0" flipH="false" flipV="false">
            <a:off x="4572000" y="1524000"/>
            <a:ext cx="3302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25400" blurRad="127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826000" y="1778000"/>
            <a:ext cx="609600" cy="609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5588000" y="1778000"/>
            <a:ext cx="215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B端企业合作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588000" y="2159000"/>
            <a:ext cx="215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作为“员工情绪健康福利包”向企业售卖(EAP补充)，切入百亿级EAP市场。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128000" y="1524000"/>
            <a:ext cx="3302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25400" blurRad="127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1778000"/>
            <a:ext cx="609600" cy="609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9144000" y="1778000"/>
            <a:ext cx="215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C端增值服务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144000" y="2159000"/>
            <a:ext cx="215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提供高级职业规划报告、简历优化、心理咨询师转介等高价值服务。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572000" y="3429000"/>
            <a:ext cx="3302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25400" blurRad="127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4826000" y="3683000"/>
            <a:ext cx="609600" cy="609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5588000" y="3683000"/>
            <a:ext cx="215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生态合作收入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588000" y="4064000"/>
            <a:ext cx="215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与线下体验场馆、招聘平台、职业教育机构进行流量与收益分成。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128000" y="3429000"/>
            <a:ext cx="3302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25400" blurRad="127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8382000" y="3683000"/>
            <a:ext cx="609600" cy="6096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9144000" y="3683000"/>
            <a:ext cx="215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数据洞察服务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144000" y="4064000"/>
            <a:ext cx="215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输出匿名化的行业情绪报告，具备极强的话题性与商业变现价值。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5461000"/>
            <a:ext cx="10668000" cy="889000"/>
          </a:xfrm>
          <a:prstGeom prst="roundRect">
            <a:avLst>
              <a:gd name="adj" fmla="val 22857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F97316">
                <a:alpha val="3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1016000" y="5651500"/>
            <a:ext cx="508000" cy="5080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1778000" y="5588000"/>
            <a:ext cx="939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商业潜力：</a:t>
            </a:r>
            <a:r>
              <a:rPr lang="en-US" b="false" i="false" strike="noStrike" u="none" sz="13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切入千亿级企业服务与心理健康市场，模式轻资产运营，具备极强的横向与纵向可扩展性。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团队介绍与分工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335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我们是一支具备产品、心理、运营、开发复合能力的团队，致力于将疗愈方案落地。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905000"/>
            <a:ext cx="5207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905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222500"/>
            <a:ext cx="889000" cy="889000"/>
          </a:xfrm>
          <a:prstGeom prst="ellipse">
            <a:avLst/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257300" y="24638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2159000" y="20955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产品负责人 [姓名]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159000" y="2540000"/>
            <a:ext cx="355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负责整体产品规划与设计。今日核心产出：完成了四步疗愈法的逻辑梳理与高保真原型设计。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1905000"/>
            <a:ext cx="5207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905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77000" y="2222500"/>
            <a:ext cx="889000" cy="889000"/>
          </a:xfrm>
          <a:prstGeom prst="ellipse">
            <a:avLst/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718300" y="24638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7620000" y="20955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心理学顾问 [姓名]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0" y="2540000"/>
            <a:ext cx="355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提供专业理论支持。今日核心产出：完成AI对话脚本编写及理性决策工具箱的心理学框架搭建。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3810000"/>
            <a:ext cx="5207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905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16000" y="4127500"/>
            <a:ext cx="889000" cy="889000"/>
          </a:xfrm>
          <a:prstGeom prst="ellipse">
            <a:avLst/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257300" y="4368800"/>
            <a:ext cx="406400" cy="4064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2159000" y="40005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运营负责人 [姓名]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2159000" y="4445000"/>
            <a:ext cx="355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负责市场与增长策略。今日核心产出：完成首批种子用户深度访谈，并搭建完成初始社群框架。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223000" y="3810000"/>
            <a:ext cx="5207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905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477000" y="4127500"/>
            <a:ext cx="889000" cy="889000"/>
          </a:xfrm>
          <a:prstGeom prst="ellipse">
            <a:avLst/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718300" y="4368800"/>
            <a:ext cx="406400" cy="4064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7620000" y="40005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技术负责人 [姓名]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20000" y="4445000"/>
            <a:ext cx="355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负责核心技术实现。今日核心产出：完成AI对话逻辑Demo的初步开发与功能验证。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62000" y="5715000"/>
            <a:ext cx="10668000" cy="762000"/>
          </a:xfrm>
          <a:prstGeom prst="roundRect">
            <a:avLst>
              <a:gd name="adj" fmla="val 26666"/>
            </a:avLst>
          </a:prstGeom>
          <a:solidFill>
            <a:srgbClr val="FFEDD5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62000" y="5867400"/>
            <a:ext cx="1066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7C2D12"/>
                </a:solidFill>
                <a:latin typeface="Noto Sans SC"/>
                <a:ea typeface="Noto Sans SC"/>
                <a:cs typeface="Noto Sans SC"/>
                <a:sym typeface="Noto Sans SC"/>
              </a:rPr>
              <a:t>✨ 我们是一个行动导向的团队，今日的阶段性成果是我们高效协作的最佳证明。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下一步规划与7天共创实验展望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207000" cy="4826000"/>
          </a:xfrm>
          <a:prstGeom prst="roundRect">
            <a:avLst>
              <a:gd name="adj" fmla="val 421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2540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7145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比赛后一周 · 关键行动计划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286000"/>
            <a:ext cx="4699000" cy="1143000"/>
          </a:xfrm>
          <a:prstGeom prst="roundRect">
            <a:avLst>
              <a:gd name="adj" fmla="val 13333"/>
            </a:avLst>
          </a:prstGeom>
          <a:solidFill>
            <a:srgbClr val="FFF7E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06500" y="2476500"/>
            <a:ext cx="762000" cy="762000"/>
          </a:xfrm>
          <a:prstGeom prst="ellipse">
            <a:avLst/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384300" y="26543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2159000" y="2413000"/>
            <a:ext cx="342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Day 1-2 · MVP 深度打磨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完成MVP原型迭代，定向邀请50名种子用户进行封闭测试，收集第一手反馈。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3556000"/>
            <a:ext cx="4699000" cy="1143000"/>
          </a:xfrm>
          <a:prstGeom prst="roundRect">
            <a:avLst>
              <a:gd name="adj" fmla="val 13333"/>
            </a:avLst>
          </a:prstGeom>
          <a:solidFill>
            <a:srgbClr val="FFF7E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206500" y="3746500"/>
            <a:ext cx="762000" cy="762000"/>
          </a:xfrm>
          <a:prstGeom prst="ellipse">
            <a:avLst/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384300" y="39243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2159000" y="3683000"/>
            <a:ext cx="342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Day 3-5 · 打卡挑战启动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发起“30天辞职冷静期”打卡活动，建立用户社群，深度洞察用户心路历程。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4826000"/>
            <a:ext cx="4699000" cy="1143000"/>
          </a:xfrm>
          <a:prstGeom prst="roundRect">
            <a:avLst>
              <a:gd name="adj" fmla="val 13333"/>
            </a:avLst>
          </a:prstGeom>
          <a:solidFill>
            <a:srgbClr val="FFF7E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206500" y="5016500"/>
            <a:ext cx="762000" cy="762000"/>
          </a:xfrm>
          <a:prstGeom prst="ellipse">
            <a:avLst/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384300" y="51943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2159000" y="4953000"/>
            <a:ext cx="342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Day 6-7 · 线下资源链接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与1-2家线下活动场地或心理咨询机构洽谈，签署初步合作意向书，拓展场景。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223000" y="1524000"/>
            <a:ext cx="5207000" cy="4826000"/>
          </a:xfrm>
          <a:prstGeom prst="roundRect">
            <a:avLst>
              <a:gd name="adj" fmla="val 421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2540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17145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7天共创实验 · 我们已蓄势待发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477000" y="2286000"/>
            <a:ext cx="4699000" cy="1079500"/>
          </a:xfrm>
          <a:prstGeom prst="roundRect">
            <a:avLst>
              <a:gd name="adj" fmla="val 18823"/>
            </a:avLst>
          </a:prstGeom>
          <a:solidFill>
            <a:srgbClr val="FFEDD5">
              <a:alpha val="80000"/>
            </a:srgbClr>
          </a:solidFill>
          <a:ln w="12700" cmpd="sng" cap="flat">
            <a:solidFill>
              <a:srgbClr val="FDBA7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604000" y="2438400"/>
            <a:ext cx="444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900">
                <a:solidFill>
                  <a:srgbClr val="EA580C"/>
                </a:solidFill>
                <a:latin typeface="Noto Sans SC"/>
                <a:ea typeface="Noto Sans SC"/>
                <a:cs typeface="Noto Sans SC"/>
                <a:sym typeface="Noto Sans SC"/>
              </a:rPr>
              <a:t>“ 极其渴望参与，已做好万全准备 ”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477000" y="3556000"/>
            <a:ext cx="4699000" cy="1143000"/>
          </a:xfrm>
          <a:prstGeom prst="roundRect">
            <a:avLst>
              <a:gd name="adj" fmla="val 13333"/>
            </a:avLst>
          </a:prstGeom>
          <a:solidFill>
            <a:srgbClr val="F9FAF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731000" y="3873500"/>
            <a:ext cx="508000" cy="5080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7493000" y="3683000"/>
            <a:ext cx="342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目标明确，路径清晰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制定了详细的实验目标拆解表与每日执行SOP，确保每一步都扎实有效。</a:t>
            </a:r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477000" y="4826000"/>
            <a:ext cx="4699000" cy="1143000"/>
          </a:xfrm>
          <a:prstGeom prst="roundRect">
            <a:avLst>
              <a:gd name="adj" fmla="val 13333"/>
            </a:avLst>
          </a:prstGeom>
          <a:solidFill>
            <a:srgbClr val="F9FAF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731000" y="5143500"/>
            <a:ext cx="508000" cy="5080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7493000" y="4953000"/>
            <a:ext cx="342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全力投入，快速迭代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以验证核心价值为导向，在实验中快速收集数据，即时优化产品体验。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今日核心成果总结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这是我们今天集中推进的实质性成果，也是团队执行力的最好证明。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159000"/>
            <a:ext cx="3302000" cy="3683000"/>
          </a:xfrm>
          <a:prstGeom prst="roundRect">
            <a:avLst>
              <a:gd name="adj" fmla="val 6153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5400000" dist="63500" blurRad="254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752600" y="2413000"/>
            <a:ext cx="1320800" cy="1320800"/>
          </a:xfrm>
          <a:prstGeom prst="ellipse">
            <a:avLst/>
          </a:prstGeom>
          <a:solidFill>
            <a:srgbClr val="FFF7E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057400" y="2717800"/>
            <a:ext cx="711200" cy="7112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762000" y="39370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01 / 产品定义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4572000"/>
            <a:ext cx="2794000" cy="1016000"/>
          </a:xfrm>
          <a:prstGeom prst="roundRect">
            <a:avLst>
              <a:gd name="adj" fmla="val 10000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206500" y="4699000"/>
            <a:ext cx="241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完成了“四步疗愈法”的完整产品逻辑梳理，并输出了全链路交互流程图。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445000" y="2159000"/>
            <a:ext cx="3302000" cy="3683000"/>
          </a:xfrm>
          <a:prstGeom prst="roundRect">
            <a:avLst>
              <a:gd name="adj" fmla="val 6153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5400000" dist="63500" blurRad="254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435600" y="2413000"/>
            <a:ext cx="1320800" cy="1320800"/>
          </a:xfrm>
          <a:prstGeom prst="ellipse">
            <a:avLst/>
          </a:prstGeom>
          <a:solidFill>
            <a:srgbClr val="FFF7E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740400" y="2717800"/>
            <a:ext cx="711200" cy="7112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4445000" y="39370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02 / 需求验证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699000" y="4572000"/>
            <a:ext cx="2794000" cy="1016000"/>
          </a:xfrm>
          <a:prstGeom prst="roundRect">
            <a:avLst>
              <a:gd name="adj" fmla="val 10000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889500" y="4699000"/>
            <a:ext cx="241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深度完成3份用户访谈摘要，并成功组建15人种子用户核心社群，验证了需求真实性。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128000" y="2159000"/>
            <a:ext cx="3302000" cy="3683000"/>
          </a:xfrm>
          <a:prstGeom prst="roundRect">
            <a:avLst>
              <a:gd name="adj" fmla="val 6153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5400000" dist="63500" blurRad="254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118600" y="2413000"/>
            <a:ext cx="1320800" cy="1320800"/>
          </a:xfrm>
          <a:prstGeom prst="ellipse">
            <a:avLst/>
          </a:prstGeom>
          <a:solidFill>
            <a:srgbClr val="FFF7E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423400" y="2717800"/>
            <a:ext cx="711200" cy="7112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8128000" y="39370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03 / 原型构建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382000" y="4572000"/>
            <a:ext cx="2794000" cy="1016000"/>
          </a:xfrm>
          <a:prstGeom prst="roundRect">
            <a:avLst>
              <a:gd name="adj" fmla="val 10000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572500" y="4699000"/>
            <a:ext cx="241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产出AI对话脚本框架V1.0，并完成“30天冷静期清单”V1.0，实现核心功能可视化。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2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2032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让负面更负面，负负得正。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3048000"/>
            <a:ext cx="1219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我们已起步，期待与您共创，真正疗愈这一代职场人。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588000" y="40640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4572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SCAN FOR MORE / 扫码关注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5334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THANKS FOR WATCHING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