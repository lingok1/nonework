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notesSlides/notesSlide1.xml" Type="http://schemas.openxmlformats.org/officeDocument/2006/relationships/notesSlide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notesSlides/notesSlide13.xml" Type="http://schemas.openxmlformats.org/officeDocument/2006/relationships/notesSlide"/><Relationship Id="rId37" Target="notesSlides/notesSlide14.xml" Type="http://schemas.openxmlformats.org/officeDocument/2006/relationships/notesSlide"/><Relationship Id="rId38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们带来的项目是“辞了么”，一个专为职场人设计的情绪疗愈小程序。我们发现，当代职场人面临着巨大的情绪压力，却常常无处排解。我们的宗旨很简单：“你的情绪，值得先被‘看见’，再被‘解决’”。我们不评判、不说教，而是通过独特的“负负得正”疗愈法，引导用户从负面情绪中找到积极的力量。接下来，我们将详细介绍这个项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，我们将从六个方面来全面介绍“辞了么”项目。首先，我们会深入分析当前职场人面临的情绪痛点；接着，我们将展示我们独创的“负负得正”四步疗愈法作为解决方案；然后，会具体展示产品的核心功能和原型；之后，我们会探讨市场策略、商业模式，并最后总结我们今天取得的核心成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首先，让我们看看问题的严重性。数据显示，职场情绪问题已非常普遍，超过三分之一的员工感到情绪耗竭，近八成的人经历过情绪崩溃。大家常说的“安静离职”，背后正是情绪压抑到极致的表现。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我们总结了三种典型的困境：决策不理性、情绪无出口、行动无指引。这些场景在我们的职场生活中屡见不鲜。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而传统的解决方案，无论是朋友安慰还是心理咨询，都存在明显的不足。这为我们的产品提供了广阔的市场空间。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针对这些痛点，我们提出了“负负得正”四步疗愈法。这个方法形成一个完整的闭环。第一步，通过AI共情接纳，让用户尽情宣泄；第二步，通过游戏化释放，将情绪转化为有趣的互动；第三步，通过社交化实践，建立真实的连接；最后，通过理性化工具，帮助用户做出明智的决策。我们的核心创新在于，承认“想辞职”情绪的合理性，并将其转化为自我探索和成长的契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第一个核心功能是“辞了”AI对话伙伴。它是小程序首页唯一的按钮，一个真正懂你的“职场嘴替”。它不会说教，只会共情。当你说“不想干了”，它会说“我懂”；当你抱怨老板，它会陪你一起吐槽。我们已经完成了核心对话脚本的设计，确保AI的每一次回应都精准地击中用户的情绪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步是游戏化释放。我们设计了两个有趣的模块。一是“痛击老板”小游戏，让用户通过点击屏幕，痛击那些令人讨厌的职场“怪物”，安全地释放愤怒。二是“行业黑话模拟器”，把正常的话翻译成令人捧腹的“互联网黑话”，用幽默来解构工作中的荒诞。我们相信，玩着玩着，情绪就得到了治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释放之后，我们引导用户走向真实的社交。“同城发泄局”会推荐拳击、吐槽大会等线下活动，让用户在真实世界中释放压力。“职场故事酒馆”则联合线下场地举办主题沙龙，让有相似经历的人聚在一起，分享故事，互相支持。我们希望打破线上孤岛，让用户发现“你不是一个人在战斗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一步，是回归理性。我们提供了一系列决策工具。“辞职冷静期”清单，通过30天的任务，帮助用户将情绪冲动转化为实际行动。职业规划自测问卷，帮助用户厘清内心的真实想法。而“柳暗花明”推荐，则会根据用户数据，智能推荐新的职业可能性。我们的目标是，让用户在情绪平复后，能够做出最适合自己的理性决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我们的目标用户非常明确：22到30岁，工作1到5年，身处一二线城市的职场新人。他们可以分为三类：犹豫辞职者、情绪内耗者和寻求转型者。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为了验证需求，我们今天对5位目标用户进行了深度访谈。他们的反馈，比如“悬着的感觉最折磨人”、“跟谁说都觉得矫情”，都真实地印证了我们要解决的痛点。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有了好的产品，如何找到第一批用户？我们的冷启动策略分为三步。首先，我们今天就在现场和各大社群发布了招募海报，并已经成功建立了初始的种子用户群，这证明了我们的执行力。其次，我们会通过制作有趣的短视频进行内容营销，引爆话题。最后，我们会用心运营社群，将用户的反馈作为产品迭代的核心动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商业模式清晰且多元。核心收入将来自B端企业合作，将我们的小程序作为员工福利包。同时，我们也会提供C端增值服务，如职业规划报告。此外，通过生态合作和数据洞察服务，我们可以构建一个完整的商业闭环。我们切入的是企业服务、心理健康和职业教育三大千亿级市场的交汇点，潜力巨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是一支具备产品、心理、运营、开发复合能力的梦之队。产品负责人张三负责整体规划，心理学顾问李四确保产品的专业性，运营负责人王五负责用户增长，技术负责人赵六负责实现。今天，我们每个人都高效地完成了分配的任务，这充分证明了我们团队的执行力和协作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对于下一步，我们有非常清晰的规划。比赛结束后一周，我们将立即开始产品打磨、运营启动和生态探索。我们尤其渴望能参与“7天共创实验”，这将是我们产品从0到1的关键一步。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我们已经准备好了详细的计划，从打磨MVP到获取真实数据，再到验证商业模式，我们有信心在7天内取得实质性突破。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想总结一下我们今天的核心成果。我们完成了清晰的产品定义，通过用户访谈和种子用户群验证了真实需求，并构建了核心功能的原型。这一切都证明了：我们不仅有一个好的想法，更有将这个想法快速落地的强大执行力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让负面更负面，负负得正。我们相信，真正的疗愈始于对情绪的全然接纳。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我们已经迈出了第一步，真诚地期待能与各位评委老师共创，一起努力，真正疗愈这一代职场人。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15" Target="../media/image17.png" Type="http://schemas.openxmlformats.org/officeDocument/2006/relationships/image"/><Relationship Id="rId16" Target="../media/image18.svg" Type="http://schemas.openxmlformats.org/officeDocument/2006/relationships/image"/><Relationship Id="rId17" Target="../notesSlides/notesSlide3.xml" Type="http://schemas.openxmlformats.org/officeDocument/2006/relationships/notesSlid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7.svg" Type="http://schemas.openxmlformats.org/officeDocument/2006/relationships/image"/><Relationship Id="rId11" Target="../notesSlides/notesSlide4.xml" Type="http://schemas.openxmlformats.org/officeDocument/2006/relationships/notesSlide"/><Relationship Id="rId2" Target="../media/image19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8.xml" Type="http://schemas.openxmlformats.org/officeDocument/2006/relationships/notesSlide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3.svg" Type="http://schemas.openxmlformats.org/officeDocument/2006/relationships/image"/><Relationship Id="rId11" Target="../media/image54.png" Type="http://schemas.openxmlformats.org/officeDocument/2006/relationships/image"/><Relationship Id="rId12" Target="../media/image55.svg" Type="http://schemas.openxmlformats.org/officeDocument/2006/relationships/image"/><Relationship Id="rId13" Target="../media/image56.png" Type="http://schemas.openxmlformats.org/officeDocument/2006/relationships/image"/><Relationship Id="rId14" Target="../media/image57.svg" Type="http://schemas.openxmlformats.org/officeDocument/2006/relationships/image"/><Relationship Id="rId15" Target="../notesSlides/notesSlide9.xml" Type="http://schemas.openxmlformats.org/officeDocument/2006/relationships/notesSlide"/><Relationship Id="rId2" Target="../media/image19.jpe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Relationship Id="rId7" Target="../media/image50.png" Type="http://schemas.openxmlformats.org/officeDocument/2006/relationships/image"/><Relationship Id="rId8" Target="../media/image51.sv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58.png" Type="http://schemas.openxmlformats.org/officeDocument/2006/relationships/image"/><Relationship Id="rId4" Target="../media/image59.svg" Type="http://schemas.openxmlformats.org/officeDocument/2006/relationships/image"/><Relationship Id="rId5" Target="../media/image60.png" Type="http://schemas.openxmlformats.org/officeDocument/2006/relationships/image"/><Relationship Id="rId6" Target="../media/image61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9.svg" Type="http://schemas.openxmlformats.org/officeDocument/2006/relationships/image"/><Relationship Id="rId11" Target="../media/image70.png" Type="http://schemas.openxmlformats.org/officeDocument/2006/relationships/image"/><Relationship Id="rId12" Target="../media/image71.svg" Type="http://schemas.openxmlformats.org/officeDocument/2006/relationships/image"/><Relationship Id="rId13" Target="../notesSlides/notesSlide11.xml" Type="http://schemas.openxmlformats.org/officeDocument/2006/relationships/notesSlide"/><Relationship Id="rId2" Target="../media/image19.jpeg" Type="http://schemas.openxmlformats.org/officeDocument/2006/relationships/image"/><Relationship Id="rId3" Target="../media/image62.png" Type="http://schemas.openxmlformats.org/officeDocument/2006/relationships/image"/><Relationship Id="rId4" Target="../media/image63.svg" Type="http://schemas.openxmlformats.org/officeDocument/2006/relationships/image"/><Relationship Id="rId5" Target="../media/image64.png" Type="http://schemas.openxmlformats.org/officeDocument/2006/relationships/image"/><Relationship Id="rId6" Target="../media/image65.svg" Type="http://schemas.openxmlformats.org/officeDocument/2006/relationships/image"/><Relationship Id="rId7" Target="../media/image66.png" Type="http://schemas.openxmlformats.org/officeDocument/2006/relationships/image"/><Relationship Id="rId8" Target="../media/image67.svg" Type="http://schemas.openxmlformats.org/officeDocument/2006/relationships/image"/><Relationship Id="rId9" Target="../media/image6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2.xml" Type="http://schemas.openxmlformats.org/officeDocument/2006/relationships/notesSlide"/><Relationship Id="rId2" Target="../media/image72.png" Type="http://schemas.openxmlformats.org/officeDocument/2006/relationships/image"/><Relationship Id="rId3" Target="../media/image73.svg" Type="http://schemas.openxmlformats.org/officeDocument/2006/relationships/image"/><Relationship Id="rId4" Target="../media/image74.png" Type="http://schemas.openxmlformats.org/officeDocument/2006/relationships/image"/><Relationship Id="rId5" Target="../media/image75.svg" Type="http://schemas.openxmlformats.org/officeDocument/2006/relationships/image"/><Relationship Id="rId6" Target="../media/image76.png" Type="http://schemas.openxmlformats.org/officeDocument/2006/relationships/image"/><Relationship Id="rId7" Target="../media/image77.svg" Type="http://schemas.openxmlformats.org/officeDocument/2006/relationships/image"/><Relationship Id="rId8" Target="../media/image78.png" Type="http://schemas.openxmlformats.org/officeDocument/2006/relationships/image"/><Relationship Id="rId9" Target="../media/image7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7.svg" Type="http://schemas.openxmlformats.org/officeDocument/2006/relationships/image"/><Relationship Id="rId11" Target="../media/image88.png" Type="http://schemas.openxmlformats.org/officeDocument/2006/relationships/image"/><Relationship Id="rId12" Target="../media/image89.svg" Type="http://schemas.openxmlformats.org/officeDocument/2006/relationships/image"/><Relationship Id="rId13" Target="../media/image90.png" Type="http://schemas.openxmlformats.org/officeDocument/2006/relationships/image"/><Relationship Id="rId14" Target="../media/image91.svg" Type="http://schemas.openxmlformats.org/officeDocument/2006/relationships/image"/><Relationship Id="rId15" Target="../notesSlides/notesSlide13.xml" Type="http://schemas.openxmlformats.org/officeDocument/2006/relationships/notesSlide"/><Relationship Id="rId2" Target="../media/image19.jpeg" Type="http://schemas.openxmlformats.org/officeDocument/2006/relationships/image"/><Relationship Id="rId3" Target="../media/image80.png" Type="http://schemas.openxmlformats.org/officeDocument/2006/relationships/image"/><Relationship Id="rId4" Target="../media/image81.svg" Type="http://schemas.openxmlformats.org/officeDocument/2006/relationships/image"/><Relationship Id="rId5" Target="../media/image82.png" Type="http://schemas.openxmlformats.org/officeDocument/2006/relationships/image"/><Relationship Id="rId6" Target="../media/image83.svg" Type="http://schemas.openxmlformats.org/officeDocument/2006/relationships/image"/><Relationship Id="rId7" Target="../media/image84.png" Type="http://schemas.openxmlformats.org/officeDocument/2006/relationships/image"/><Relationship Id="rId8" Target="../media/image85.svg" Type="http://schemas.openxmlformats.org/officeDocument/2006/relationships/image"/><Relationship Id="rId9" Target="../media/image8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2.png" Type="http://schemas.openxmlformats.org/officeDocument/2006/relationships/image"/><Relationship Id="rId3" Target="../media/image93.svg" Type="http://schemas.openxmlformats.org/officeDocument/2006/relationships/image"/><Relationship Id="rId4" Target="../media/image94.png" Type="http://schemas.openxmlformats.org/officeDocument/2006/relationships/image"/><Relationship Id="rId5" Target="../media/image95.svg" Type="http://schemas.openxmlformats.org/officeDocument/2006/relationships/image"/><Relationship Id="rId6" Target="../media/image96.png" Type="http://schemas.openxmlformats.org/officeDocument/2006/relationships/image"/><Relationship Id="rId7" Target="../media/image97.svg" Type="http://schemas.openxmlformats.org/officeDocument/2006/relationships/image"/><Relationship Id="rId8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8.jpeg" Type="http://schemas.openxmlformats.org/officeDocument/2006/relationships/image"/><Relationship Id="rId3" Target="../notesSlides/notesSlide15.xml" Type="http://schemas.openxmlformats.org/officeDocument/2006/relationships/notesSlide"/><Relationship Id="rId4" Target="../media/image9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1905000"/>
            <a:ext cx="1219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辞了么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429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一个让职场情绪“负负得正”的疗愈小程序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4318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你的情绪，值得先被“看见”，再被“解决”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5715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 大学生创新创业大赛 | 情绪疗愈实验室团队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/ 我们今日将呈现什么？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460500"/>
            <a:ext cx="5334000" cy="762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587500"/>
            <a:ext cx="508000" cy="508000"/>
          </a:xfrm>
          <a:prstGeom prst="ellipse">
            <a:avLst/>
          </a:prstGeom>
          <a:solidFill>
            <a:srgbClr val="A3B1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6764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778000" y="15494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痛点共鸣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778000" y="18796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68E96"/>
                </a:solidFill>
                <a:latin typeface="Noto Sans SC"/>
                <a:ea typeface="Noto Sans SC"/>
                <a:cs typeface="Noto Sans SC"/>
                <a:sym typeface="Noto Sans SC"/>
              </a:rPr>
              <a:t>我们为谁解决何种“燃眉之急”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413000"/>
            <a:ext cx="5334000" cy="762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540000"/>
            <a:ext cx="508000" cy="508000"/>
          </a:xfrm>
          <a:prstGeom prst="ellipse">
            <a:avLst/>
          </a:prstGeom>
          <a:solidFill>
            <a:srgbClr val="A3B1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26289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778000" y="25019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778000" y="28321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68E96"/>
                </a:solidFill>
                <a:latin typeface="Noto Sans SC"/>
                <a:ea typeface="Noto Sans SC"/>
                <a:cs typeface="Noto Sans SC"/>
                <a:sym typeface="Noto Sans SC"/>
              </a:rPr>
              <a:t>“负负得正”四步疗愈法核心逻辑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365500"/>
            <a:ext cx="5334000" cy="762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3492500"/>
            <a:ext cx="508000" cy="508000"/>
          </a:xfrm>
          <a:prstGeom prst="ellipse">
            <a:avLst/>
          </a:prstGeom>
          <a:solidFill>
            <a:srgbClr val="A3B1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35814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778000" y="34544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产品核心展示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778000" y="37846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68E96"/>
                </a:solidFill>
                <a:latin typeface="Noto Sans SC"/>
                <a:ea typeface="Noto Sans SC"/>
                <a:cs typeface="Noto Sans SC"/>
                <a:sym typeface="Noto Sans SC"/>
              </a:rPr>
              <a:t>今日交互原型演示与核心流程验证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318000"/>
            <a:ext cx="5334000" cy="762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4445000"/>
            <a:ext cx="508000" cy="508000"/>
          </a:xfrm>
          <a:prstGeom prst="ellipse">
            <a:avLst/>
          </a:prstGeom>
          <a:solidFill>
            <a:srgbClr val="A3B1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45339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778000" y="44069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市场与增长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778000" y="47371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68E96"/>
                </a:solidFill>
                <a:latin typeface="Noto Sans SC"/>
                <a:ea typeface="Noto Sans SC"/>
                <a:cs typeface="Noto Sans SC"/>
                <a:sym typeface="Noto Sans SC"/>
              </a:rPr>
              <a:t>冷启动策略：如何找到第一批真实用户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270500"/>
            <a:ext cx="5334000" cy="762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" y="5397500"/>
            <a:ext cx="508000" cy="508000"/>
          </a:xfrm>
          <a:prstGeom prst="ellipse">
            <a:avLst/>
          </a:prstGeom>
          <a:solidFill>
            <a:srgbClr val="A3B1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16000" y="54864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778000" y="53594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商业模式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778000" y="56896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68E96"/>
                </a:solidFill>
                <a:latin typeface="Noto Sans SC"/>
                <a:ea typeface="Noto Sans SC"/>
                <a:cs typeface="Noto Sans SC"/>
                <a:sym typeface="Noto Sans SC"/>
              </a:rPr>
              <a:t>商业闭环构建：从“被需要”到“有潜力”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477000" y="1524000"/>
            <a:ext cx="4953000" cy="4699000"/>
          </a:xfrm>
          <a:prstGeom prst="roundRect">
            <a:avLst>
              <a:gd name="adj" fmla="val 6486"/>
            </a:avLst>
          </a:prstGeom>
          <a:solidFill>
            <a:srgbClr val="A3B1A1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985000" y="2032000"/>
            <a:ext cx="3937000" cy="3683000"/>
          </a:xfrm>
          <a:prstGeom prst="roundRect">
            <a:avLst>
              <a:gd name="adj" fmla="val 11034"/>
            </a:avLst>
          </a:prstGeom>
          <a:solidFill>
            <a:srgbClr val="A3B1A1">
              <a:alpha val="70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1905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191500" y="3048000"/>
            <a:ext cx="1524000" cy="15240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7556500" y="4953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 spc="2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HEALING SPACE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痛点分析——被忽视的职场情绪“垃圾”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4572000"/>
          </a:xfrm>
          <a:prstGeom prst="roundRect">
            <a:avLst>
              <a:gd name="adj" fmla="val 6153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19304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5C6B5C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数据共鸣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476500"/>
            <a:ext cx="279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一个沉默的、巨大的情绪市场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984500"/>
            <a:ext cx="2794000" cy="1016000"/>
          </a:xfrm>
          <a:prstGeom prst="roundRect">
            <a:avLst>
              <a:gd name="adj" fmla="val 12500"/>
            </a:avLst>
          </a:prstGeom>
          <a:solidFill>
            <a:srgbClr val="F0F5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06500" y="31115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35%</a:t>
            </a:r>
            <a:r>
              <a:rPr lang="en-US" b="true" i="false" strike="noStrike" u="none" sz="1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情绪耗竭常态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06500" y="3556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超三成员工表示仅在岗位上“机械应付”，缺乏热情。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127500"/>
            <a:ext cx="2794000" cy="1016000"/>
          </a:xfrm>
          <a:prstGeom prst="roundRect">
            <a:avLst>
              <a:gd name="adj" fmla="val 12500"/>
            </a:avLst>
          </a:prstGeom>
          <a:solidFill>
            <a:srgbClr val="F0F5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06500" y="42545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76.8%</a:t>
            </a:r>
            <a:r>
              <a:rPr lang="en-US" b="true" i="false" strike="noStrike" u="none" sz="1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负面情绪爆发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206500" y="4699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多数职场人曾经历情绪崩溃，互联网行业抑郁倾向阳性率近78%。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5270500"/>
            <a:ext cx="2794000" cy="889000"/>
          </a:xfrm>
          <a:prstGeom prst="roundRect">
            <a:avLst>
              <a:gd name="adj" fmla="val 14285"/>
            </a:avLst>
          </a:prstGeom>
          <a:solidFill>
            <a:srgbClr val="F0F5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206500" y="5359400"/>
            <a:ext cx="254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45%</a:t>
            </a:r>
            <a:r>
              <a:rPr lang="en-US" b="true" i="false" strike="noStrike" u="none" sz="1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隐形辞职蔓延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06500" y="5715000"/>
            <a:ext cx="2413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IT人才自认处于“安静离职”状态。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445000" y="1651000"/>
            <a:ext cx="3302000" cy="4572000"/>
          </a:xfrm>
          <a:prstGeom prst="roundRect">
            <a:avLst>
              <a:gd name="adj" fmla="val 6153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905000"/>
            <a:ext cx="457200" cy="4572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5334000" y="19304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5C6B5C"/>
                </a:solidFill>
                <a:latin typeface="Noto Sans SC"/>
                <a:ea typeface="Noto Sans SC"/>
                <a:cs typeface="Noto Sans SC"/>
                <a:sym typeface="Noto Sans SC"/>
              </a:rPr>
              <a:t>真实场景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699000" y="2476500"/>
            <a:ext cx="279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深陷其中的三种典型困境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699000" y="2984500"/>
            <a:ext cx="2794000" cy="1016000"/>
          </a:xfrm>
          <a:prstGeom prst="roundRect">
            <a:avLst>
              <a:gd name="adj" fmla="val 12500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826000" y="3111500"/>
            <a:ext cx="254000" cy="2540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5207000" y="31115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“提了离职不敢走，每天在崩溃边缘硬撑...”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207000" y="3683000"/>
            <a:ext cx="1016000" cy="254000"/>
          </a:xfrm>
          <a:prstGeom prst="roundRect">
            <a:avLst>
              <a:gd name="adj" fmla="val 250000"/>
            </a:avLst>
          </a:prstGeom>
          <a:solidFill>
            <a:srgbClr val="A3B1A1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207000" y="36830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决策不理性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699000" y="4127500"/>
            <a:ext cx="2794000" cy="1016000"/>
          </a:xfrm>
          <a:prstGeom prst="roundRect">
            <a:avLst>
              <a:gd name="adj" fmla="val 12500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826000" y="4254500"/>
            <a:ext cx="254000" cy="2540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5207000" y="42545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“心里委屈没处说，说了反而被指责‘矫情’...”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5207000" y="4826000"/>
            <a:ext cx="1016000" cy="254000"/>
          </a:xfrm>
          <a:prstGeom prst="roundRect">
            <a:avLst>
              <a:gd name="adj" fmla="val 250000"/>
            </a:avLst>
          </a:prstGeom>
          <a:solidFill>
            <a:srgbClr val="A3B1A1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5207000" y="48260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情绪无出口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4699000" y="5270500"/>
            <a:ext cx="2794000" cy="889000"/>
          </a:xfrm>
          <a:prstGeom prst="roundRect">
            <a:avLst>
              <a:gd name="adj" fmla="val 14285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826000" y="5397500"/>
            <a:ext cx="254000" cy="2540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5207000" y="5397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“想走是冲动，但未来规划一片空白...”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5207000" y="5842000"/>
            <a:ext cx="1016000" cy="254000"/>
          </a:xfrm>
          <a:prstGeom prst="roundRect">
            <a:avLst>
              <a:gd name="adj" fmla="val 250000"/>
            </a:avLst>
          </a:prstGeom>
          <a:solidFill>
            <a:srgbClr val="A3B1A1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5207000" y="58420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行动无指引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128000" y="1651000"/>
            <a:ext cx="3302000" cy="4572000"/>
          </a:xfrm>
          <a:prstGeom prst="roundRect">
            <a:avLst>
              <a:gd name="adj" fmla="val 6153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382000" y="1905000"/>
            <a:ext cx="457200" cy="457200"/>
          </a:xfrm>
          <a:prstGeom prst="rect">
            <a:avLst/>
          </a:prstGeom>
        </p:spPr>
      </p:pic>
      <p:sp>
        <p:nvSpPr>
          <p:cNvPr name="AutoShape 38" id="38"/>
          <p:cNvSpPr/>
          <p:nvPr/>
        </p:nvSpPr>
        <p:spPr>
          <a:xfrm rot="0" flipH="false" flipV="false">
            <a:off x="9017000" y="19304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5C6B5C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传统方式失效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382000" y="2476500"/>
            <a:ext cx="279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治标不治本的无效慰藉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8382000" y="2984500"/>
            <a:ext cx="2794000" cy="1016000"/>
          </a:xfrm>
          <a:prstGeom prst="roundRect">
            <a:avLst>
              <a:gd name="adj" fmla="val 12500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509000" y="3175000"/>
            <a:ext cx="406400" cy="406400"/>
          </a:xfrm>
          <a:prstGeom prst="rect">
            <a:avLst/>
          </a:prstGeom>
        </p:spPr>
      </p:pic>
      <p:sp>
        <p:nvSpPr>
          <p:cNvPr name="AutoShape 42" id="42"/>
          <p:cNvSpPr/>
          <p:nvPr/>
        </p:nvSpPr>
        <p:spPr>
          <a:xfrm rot="0" flipH="false" flipV="false">
            <a:off x="9080500" y="3111500"/>
            <a:ext cx="1905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朋友安慰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9080500" y="3492500"/>
            <a:ext cx="190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91666"/>
              </a:lnSpc>
              <a:defRPr/>
            </a:pPr>
            <a:r>
              <a:rPr lang="en-US" b="false" i="false" strike="noStrike" u="none" sz="11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隔靴搔痒，有时反而因不专业造成二次伤害。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8382000" y="4127500"/>
            <a:ext cx="2794000" cy="1016000"/>
          </a:xfrm>
          <a:prstGeom prst="roundRect">
            <a:avLst>
              <a:gd name="adj" fmla="val 12500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5" id="45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509000" y="4318000"/>
            <a:ext cx="406400" cy="406400"/>
          </a:xfrm>
          <a:prstGeom prst="rect">
            <a:avLst/>
          </a:prstGeom>
        </p:spPr>
      </p:pic>
      <p:sp>
        <p:nvSpPr>
          <p:cNvPr name="AutoShape 46" id="46"/>
          <p:cNvSpPr/>
          <p:nvPr/>
        </p:nvSpPr>
        <p:spPr>
          <a:xfrm rot="0" flipH="false" flipV="false">
            <a:off x="9080500" y="4254500"/>
            <a:ext cx="1905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心理咨询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9080500" y="4635500"/>
            <a:ext cx="190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91666"/>
              </a:lnSpc>
              <a:defRPr/>
            </a:pPr>
            <a:r>
              <a:rPr lang="en-US" b="false" i="false" strike="noStrike" u="none" sz="11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专业门槛高、时间金钱成本昂贵，让人望而却步。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8382000" y="5270500"/>
            <a:ext cx="2794000" cy="889000"/>
          </a:xfrm>
          <a:prstGeom prst="roundRect">
            <a:avLst>
              <a:gd name="adj" fmla="val 14285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9" id="49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8509000" y="5461000"/>
            <a:ext cx="406400" cy="406400"/>
          </a:xfrm>
          <a:prstGeom prst="rect">
            <a:avLst/>
          </a:prstGeom>
        </p:spPr>
      </p:pic>
      <p:sp>
        <p:nvSpPr>
          <p:cNvPr name="AutoShape 50" id="50"/>
          <p:cNvSpPr/>
          <p:nvPr/>
        </p:nvSpPr>
        <p:spPr>
          <a:xfrm rot="0" flipH="false" flipV="false">
            <a:off x="9080500" y="5359400"/>
            <a:ext cx="1905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鸡汤网文</a:t>
            </a:r>
            <a:endParaRPr lang="en-US" sz="1100"/>
          </a:p>
        </p:txBody>
      </p:sp>
      <p:sp>
        <p:nvSpPr>
          <p:cNvPr name="AutoShape 51" id="51"/>
          <p:cNvSpPr/>
          <p:nvPr/>
        </p:nvSpPr>
        <p:spPr>
          <a:xfrm rot="0" flipH="false" flipV="false">
            <a:off x="9080500" y="57150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短暂的精神麻醉，治标不治本，带来更深空虚。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解决方案总览——“负负得正”四步疗愈法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2540000" cy="3302000"/>
          </a:xfrm>
          <a:prstGeom prst="roundRect">
            <a:avLst>
              <a:gd name="adj" fmla="val 60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7145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C0B7E8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701800" y="24130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952500" y="31750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AI共情接纳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线上情绪宣泄室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937000"/>
            <a:ext cx="215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提供24/7在线、绝对私密的AI伙伴，让用户在安全的环境中尽情释放积压的负面情绪。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556000" y="1524000"/>
            <a:ext cx="2540000" cy="3302000"/>
          </a:xfrm>
          <a:prstGeom prst="roundRect">
            <a:avLst>
              <a:gd name="adj" fmla="val 60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746500" y="17145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C0B7E8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495800" y="24130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3746500" y="31750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游戏化释放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趣味互动转化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746500" y="3937000"/>
            <a:ext cx="215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将抽象的负面情绪具象化为游戏挑战，在轻松娱乐的互动中释放压力，潜移默化地实现认知重构。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1524000"/>
            <a:ext cx="2540000" cy="3302000"/>
          </a:xfrm>
          <a:prstGeom prst="roundRect">
            <a:avLst>
              <a:gd name="adj" fmla="val 60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540500" y="17145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C0B7E8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289800" y="2413000"/>
            <a:ext cx="609600" cy="609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540500" y="31750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社交化实践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线下真实连接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540500" y="3937000"/>
            <a:ext cx="215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引导用户走出封闭空间，参与线下轻社交活动，建立真实的社会连接，有效缓解职业倦怠带来的孤独感。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144000" y="1524000"/>
            <a:ext cx="2540000" cy="3302000"/>
          </a:xfrm>
          <a:prstGeom prst="roundRect">
            <a:avLst>
              <a:gd name="adj" fmla="val 60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334500" y="17145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C0B7E8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083800" y="2413000"/>
            <a:ext cx="609600" cy="609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334500" y="31750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理性化工具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科学决策支持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334500" y="3937000"/>
            <a:ext cx="215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提供结构化的职业分析与决策工具，帮助用户在情绪平复后，基于理性数据做出适合自己的职业规划。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207000"/>
            <a:ext cx="10922000" cy="1143000"/>
          </a:xfrm>
          <a:prstGeom prst="roundRect">
            <a:avLst>
              <a:gd name="adj" fmla="val 13333"/>
            </a:avLst>
          </a:prstGeom>
          <a:solidFill>
            <a:srgbClr val="C0B7E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16000" y="5334000"/>
            <a:ext cx="1041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核心创新：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016000" y="5778500"/>
            <a:ext cx="1041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我们不直接提供“要不要辞职”的二元答案，而是构建了一个完整的工具箱，专注于解决“如何面对想辞职的负面情绪”，将危机转化为个人成长与探索的契机。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核心功能（1）—— “辞了”AI对话伙伴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4826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778000" y="1714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功能定位：专属“职场嘴替”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778000" y="2159000"/>
            <a:ext cx="355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小程序首页唯一的核心交互入口，打造一个随时待命、懂你难处的虚拟职场闺蜜/兄弟。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75000"/>
            <a:ext cx="4826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492500"/>
            <a:ext cx="609600" cy="609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778000" y="3365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AI 人设：拒绝说教，只谈共情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778000" y="3810000"/>
            <a:ext cx="355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摒弃传统机器人的生硬逻辑，采用平等、理解、甚至略带“吐槽”的语气与用户进行情绪共鸣。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826000"/>
            <a:ext cx="4826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5156200"/>
            <a:ext cx="609600" cy="609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778000" y="5016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项目进度：脚本框架 V1.0 就绪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778000" y="54610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已完成核心对话脚本设计，全面覆盖“想离职”、“吐槽老板”、“职场压力”三大高频场景。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969000" y="1524000"/>
            <a:ext cx="5207000" cy="4826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dir="5400000" dist="101600" blurRad="317500" algn="tl" rotWithShape="false">
              <a:srgbClr val="000000">
                <a:alpha val="12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82000" y="2032000"/>
            <a:ext cx="1651000" cy="635000"/>
          </a:xfrm>
          <a:prstGeom prst="roundRect">
            <a:avLst>
              <a:gd name="adj" fmla="val 32000"/>
            </a:avLst>
          </a:prstGeom>
          <a:solidFill>
            <a:srgbClr val="A3B1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445500" y="21590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我不想干了...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2921000"/>
            <a:ext cx="3556000" cy="762000"/>
          </a:xfrm>
          <a:prstGeom prst="roundRect">
            <a:avLst>
              <a:gd name="adj" fmla="val 26666"/>
            </a:avLst>
          </a:prstGeom>
          <a:solidFill>
            <a:srgbClr val="E9ECE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3048000"/>
            <a:ext cx="330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这破班一天也上不下去了是吧，我太懂这种感觉了！摸摸头。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382000" y="3937000"/>
            <a:ext cx="1651000" cy="635000"/>
          </a:xfrm>
          <a:prstGeom prst="roundRect">
            <a:avLst>
              <a:gd name="adj" fmla="val 32000"/>
            </a:avLst>
          </a:prstGeom>
          <a:solidFill>
            <a:srgbClr val="A3B1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445500" y="40640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我们老板太奇葩了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4826000"/>
            <a:ext cx="3683000" cy="889000"/>
          </a:xfrm>
          <a:prstGeom prst="roundRect">
            <a:avLst>
              <a:gd name="adj" fmla="val 22857"/>
            </a:avLst>
          </a:prstGeom>
          <a:solidFill>
            <a:srgbClr val="E9ECE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350000" y="4953000"/>
            <a:ext cx="342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简直离谱！快跟我详细说说，让我帮你一起狠狠吐槽他！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核心功能（2）—— 游戏化释放模块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207000" cy="3302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778000"/>
            <a:ext cx="889000" cy="889000"/>
          </a:xfrm>
          <a:prstGeom prst="ellipse">
            <a:avLst/>
          </a:prstGeom>
          <a:solidFill>
            <a:srgbClr val="A3B1A1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06500" y="19685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2159000" y="1905000"/>
            <a:ext cx="342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“痛击老板”减压小游戏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794000"/>
            <a:ext cx="4699000" cy="1016000"/>
          </a:xfrm>
          <a:prstGeom prst="roundRect">
            <a:avLst>
              <a:gd name="adj" fmla="val 15000"/>
            </a:avLst>
          </a:prstGeom>
          <a:solidFill>
            <a:srgbClr val="F1F3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06500" y="2921000"/>
            <a:ext cx="431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▍核心玩法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06500" y="32385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模拟打地鼠机制，用户可点击痛击“PUA话术”、“甩锅侠”、“画饼大师”等职场负面符号化形象。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937000"/>
            <a:ext cx="4699000" cy="1016000"/>
          </a:xfrm>
          <a:prstGeom prst="roundRect">
            <a:avLst>
              <a:gd name="adj" fmla="val 15000"/>
            </a:avLst>
          </a:prstGeom>
          <a:solidFill>
            <a:srgbClr val="F1F3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06500" y="4064000"/>
            <a:ext cx="431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▍设计理念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06500" y="43815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将无形的负面情绪具象化，通过游戏中的“攻击”行为，在安全的虚拟环境中释放现实中积压的愤怒。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1524000"/>
            <a:ext cx="5207000" cy="3302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1778000"/>
            <a:ext cx="889000" cy="889000"/>
          </a:xfrm>
          <a:prstGeom prst="ellipse">
            <a:avLst/>
          </a:prstGeom>
          <a:solidFill>
            <a:srgbClr val="A3B1A1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67500" y="1968500"/>
            <a:ext cx="508000" cy="508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7620000" y="1905000"/>
            <a:ext cx="342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“行业黑话”趣味模拟器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2794000"/>
            <a:ext cx="4699000" cy="1016000"/>
          </a:xfrm>
          <a:prstGeom prst="roundRect">
            <a:avLst>
              <a:gd name="adj" fmla="val 15000"/>
            </a:avLst>
          </a:prstGeom>
          <a:solidFill>
            <a:srgbClr val="F1F3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67500" y="2921000"/>
            <a:ext cx="431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▍核心玩法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67500" y="32385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用户输入一句正常的口语或书面语，AI模型将其“翻译”为一段充满“互联网黑话”与“废话文学”的职场八股文。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3937000"/>
            <a:ext cx="4699000" cy="1016000"/>
          </a:xfrm>
          <a:prstGeom prst="roundRect">
            <a:avLst>
              <a:gd name="adj" fmla="val 15000"/>
            </a:avLst>
          </a:prstGeom>
          <a:solidFill>
            <a:srgbClr val="F1F3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667500" y="4064000"/>
            <a:ext cx="431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▍设计理念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67500" y="43815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利用反差感带来的幽默体验，解构职场语言的荒诞性，帮助用户建立对工作压力的新认知，实现心理放松。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080000"/>
            <a:ext cx="10668000" cy="1143000"/>
          </a:xfrm>
          <a:prstGeom prst="roundRect">
            <a:avLst>
              <a:gd name="adj" fmla="val 17777"/>
            </a:avLst>
          </a:prstGeom>
          <a:solidFill>
            <a:srgbClr val="A3B1A1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" y="5334000"/>
            <a:ext cx="635000" cy="635000"/>
          </a:xfrm>
          <a:prstGeom prst="ellipse">
            <a:avLst/>
          </a:prstGeom>
          <a:solidFill>
            <a:srgbClr val="A3B1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181100" y="5499100"/>
            <a:ext cx="304800" cy="304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1905000" y="5359400"/>
            <a:ext cx="889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今日推进进度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905000" y="5740400"/>
            <a:ext cx="889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55A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已完成“痛击老板”游戏的核心玩法交互草图绘制，以及游戏界面(UI)的高保真设计稿。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核心功能（3）—— 线下社交引导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207000" cy="4445000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79500" y="2032000"/>
            <a:ext cx="914400" cy="914400"/>
          </a:xfrm>
          <a:prstGeom prst="ellipse">
            <a:avLst/>
          </a:prstGeom>
          <a:solidFill>
            <a:srgbClr val="E6EAE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82700" y="22352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2286000" y="2159000"/>
            <a:ext cx="3175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同城发泄局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79500" y="3175000"/>
            <a:ext cx="4572000" cy="1143000"/>
          </a:xfrm>
          <a:prstGeom prst="roundRect">
            <a:avLst>
              <a:gd name="adj" fmla="val 8888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33020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合规活动整合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3683000"/>
            <a:ext cx="4191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筛选城市内合规的线下宣泄活动，如拳击体验课、吐槽大会、枕头大战等，提供安全的释放出口。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79500" y="4572000"/>
            <a:ext cx="4572000" cy="1143000"/>
          </a:xfrm>
          <a:prstGeom prst="roundRect">
            <a:avLst>
              <a:gd name="adj" fmla="val 8888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70000" y="46990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情绪智能匹配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70000" y="5080000"/>
            <a:ext cx="4191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基于用户的实时情绪标签进行精准推荐，用户可一键跳转活动详情页完成报名，高效连接线下资源。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1651000"/>
            <a:ext cx="5207000" cy="4445000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540500" y="2032000"/>
            <a:ext cx="914400" cy="914400"/>
          </a:xfrm>
          <a:prstGeom prst="ellipse">
            <a:avLst/>
          </a:prstGeom>
          <a:solidFill>
            <a:srgbClr val="E6EAE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743700" y="2235200"/>
            <a:ext cx="508000" cy="508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7747000" y="2159000"/>
            <a:ext cx="330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职场故事酒馆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540500" y="3175000"/>
            <a:ext cx="4572000" cy="1143000"/>
          </a:xfrm>
          <a:prstGeom prst="roundRect">
            <a:avLst>
              <a:gd name="adj" fmla="val 8888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731000" y="33020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沉浸式主题沙龙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731000" y="3683000"/>
            <a:ext cx="4191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联合城市咖啡馆、小酒馆定期举办主题聚会，围绕“奇葩老板”、“转行勇气”等真实职场痛点展开交流。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540500" y="4572000"/>
            <a:ext cx="4572000" cy="1143000"/>
          </a:xfrm>
          <a:prstGeom prst="roundRect">
            <a:avLst>
              <a:gd name="adj" fmla="val 8888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731000" y="46990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专业引导与互助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731000" y="5080000"/>
            <a:ext cx="4191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由专业主持人把控节奏，确保分享内容的安全性与建设性，打造高质量的职场互助小组，建立深度连接。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核心功能（4）—— 理性决策工具箱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3302000" cy="3556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A3B1A1">
                <a:alpha val="1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905000" y="1778000"/>
            <a:ext cx="1016000" cy="1016000"/>
          </a:xfrm>
          <a:prstGeom prst="ellipse">
            <a:avLst/>
          </a:prstGeom>
          <a:solidFill>
            <a:srgbClr val="A3B1A1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2159000" y="20320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2921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“辞职冷静期”清单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7188" flipH="false" flipV="false">
            <a:off x="1143016" y="34861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683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形式：</a:t>
            </a:r>
            <a:r>
              <a:rPr lang="en-US" b="false" i="false" strike="noStrike" u="none" sz="1200">
                <a:solidFill>
                  <a:srgbClr val="5F666D"/>
                </a:solidFill>
                <a:latin typeface="Noto Sans SC"/>
                <a:ea typeface="Noto Sans SC"/>
                <a:cs typeface="Noto Sans SC"/>
                <a:sym typeface="Noto Sans SC"/>
              </a:rPr>
              <a:t>30天倒计时任务清单，每日推送更新简历、存款计算等具体待办。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572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目的：</a:t>
            </a:r>
            <a:r>
              <a:rPr lang="en-US" b="false" i="false" strike="noStrike" u="none" sz="1200">
                <a:solidFill>
                  <a:srgbClr val="5F666D"/>
                </a:solidFill>
                <a:latin typeface="Noto Sans SC"/>
                <a:ea typeface="Noto Sans SC"/>
                <a:cs typeface="Noto Sans SC"/>
                <a:sym typeface="Noto Sans SC"/>
              </a:rPr>
              <a:t>将模糊的离职念头，切实分解为可执行的具体行动。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524000"/>
            <a:ext cx="3302000" cy="3556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A3B1A1">
                <a:alpha val="1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588000" y="1778000"/>
            <a:ext cx="1016000" cy="1016000"/>
          </a:xfrm>
          <a:prstGeom prst="ellipse">
            <a:avLst/>
          </a:prstGeom>
          <a:solidFill>
            <a:srgbClr val="A3B1A1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842000" y="20320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699000" y="2921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职业规划自测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7188" flipH="false" flipV="false">
            <a:off x="4826016" y="34861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699000" y="3683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形式：</a:t>
            </a:r>
            <a:r>
              <a:rPr lang="en-US" b="false" i="false" strike="noStrike" u="none" sz="1200">
                <a:solidFill>
                  <a:srgbClr val="5F666D"/>
                </a:solidFill>
                <a:latin typeface="Noto Sans SC"/>
                <a:ea typeface="Noto Sans SC"/>
                <a:cs typeface="Noto Sans SC"/>
                <a:sym typeface="Noto Sans SC"/>
              </a:rPr>
              <a:t>引导式简易问卷，帮助用户深度辨析是“讨厌工作”还是单纯“讨厌这份工作”。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99000" y="4572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目的：</a:t>
            </a:r>
            <a:r>
              <a:rPr lang="en-US" b="false" i="false" strike="noStrike" u="none" sz="1200">
                <a:solidFill>
                  <a:srgbClr val="5F666D"/>
                </a:solidFill>
                <a:latin typeface="Noto Sans SC"/>
                <a:ea typeface="Noto Sans SC"/>
                <a:cs typeface="Noto Sans SC"/>
                <a:sym typeface="Noto Sans SC"/>
              </a:rPr>
              <a:t>进行深度自我评估，厘清内心真实的职业诉求。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1524000"/>
            <a:ext cx="3302000" cy="3556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A3B1A1">
                <a:alpha val="1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271000" y="1778000"/>
            <a:ext cx="1016000" cy="1016000"/>
          </a:xfrm>
          <a:prstGeom prst="ellipse">
            <a:avLst/>
          </a:prstGeom>
          <a:solidFill>
            <a:srgbClr val="A3B1A1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525000" y="2032000"/>
            <a:ext cx="508000" cy="508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8382000" y="2921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“柳暗花明”推荐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17188" flipH="false" flipV="false">
            <a:off x="8509016" y="34861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8382000" y="3683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形式：</a:t>
            </a:r>
            <a:r>
              <a:rPr lang="en-US" b="false" i="false" strike="noStrike" u="none" sz="1200">
                <a:solidFill>
                  <a:srgbClr val="5F666D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基于用户过往履历与偏好数据，通过算法智能推荐匹配的职位、公司或发展方向。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382000" y="4572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目的：</a:t>
            </a:r>
            <a:r>
              <a:rPr lang="en-US" b="false" i="false" strike="noStrike" u="none" sz="1200">
                <a:solidFill>
                  <a:srgbClr val="5F666D"/>
                </a:solidFill>
                <a:latin typeface="Noto Sans SC"/>
                <a:ea typeface="Noto Sans SC"/>
                <a:cs typeface="Noto Sans SC"/>
                <a:sym typeface="Noto Sans SC"/>
              </a:rPr>
              <a:t>打破信息茧房，为用户提供外部探索的有效方向。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461000"/>
            <a:ext cx="10668000" cy="889000"/>
          </a:xfrm>
          <a:prstGeom prst="roundRect">
            <a:avLst>
              <a:gd name="adj" fmla="val 22857"/>
            </a:avLst>
          </a:prstGeom>
          <a:solidFill>
            <a:srgbClr val="A3B1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143000" y="5651500"/>
            <a:ext cx="508000" cy="5080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1905000" y="56134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今日推进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3556000" y="5689600"/>
            <a:ext cx="711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已完成“30天辞职冷静期”清单的详细内容框架 V1.0 版本制定与评审。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目标用户画像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080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6E6696">
                <a:alpha val="12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6764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E669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核心用户特征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159000"/>
            <a:ext cx="2159000" cy="762000"/>
          </a:xfrm>
          <a:prstGeom prst="roundRect">
            <a:avLst>
              <a:gd name="adj" fmla="val 13333"/>
            </a:avLst>
          </a:prstGeom>
          <a:solidFill>
            <a:srgbClr val="F3F0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2286000"/>
            <a:ext cx="457200" cy="4572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714500" y="2260600"/>
            <a:ext cx="1397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22-30岁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职场新人/初级白领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429000" y="2159000"/>
            <a:ext cx="2159000" cy="762000"/>
          </a:xfrm>
          <a:prstGeom prst="roundRect">
            <a:avLst>
              <a:gd name="adj" fmla="val 13333"/>
            </a:avLst>
          </a:prstGeom>
          <a:solidFill>
            <a:srgbClr val="F3F0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556000" y="2286000"/>
            <a:ext cx="457200" cy="457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127500" y="2260600"/>
            <a:ext cx="1397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一二线城市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工作年限 1-5年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556000"/>
            <a:ext cx="5080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6E6696">
                <a:alpha val="12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37084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E6696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用户细分类型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191000"/>
            <a:ext cx="1524000" cy="1397000"/>
          </a:xfrm>
          <a:prstGeom prst="roundRect">
            <a:avLst>
              <a:gd name="adj" fmla="val 7272"/>
            </a:avLst>
          </a:prstGeom>
          <a:solidFill>
            <a:srgbClr val="C0B7E8">
              <a:alpha val="1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473200" y="43180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079500" y="5016500"/>
            <a:ext cx="139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犹豫辞职者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假性离职痛苦期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667000" y="4191000"/>
            <a:ext cx="1524000" cy="1397000"/>
          </a:xfrm>
          <a:prstGeom prst="roundRect">
            <a:avLst>
              <a:gd name="adj" fmla="val 7272"/>
            </a:avLst>
          </a:prstGeom>
          <a:solidFill>
            <a:srgbClr val="C0B7E8">
              <a:alpha val="1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3124200" y="4318000"/>
            <a:ext cx="609600" cy="609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2730500" y="5016500"/>
            <a:ext cx="139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情绪内耗者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长期压抑缺疏导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318000" y="4191000"/>
            <a:ext cx="1524000" cy="1397000"/>
          </a:xfrm>
          <a:prstGeom prst="roundRect">
            <a:avLst>
              <a:gd name="adj" fmla="val 7272"/>
            </a:avLst>
          </a:prstGeom>
          <a:solidFill>
            <a:srgbClr val="C0B7E8">
              <a:alpha val="1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775200" y="4318000"/>
            <a:ext cx="609600" cy="609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4381500" y="5016500"/>
            <a:ext cx="139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寻求转型者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9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探索新可能缺规划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096000" y="1524000"/>
            <a:ext cx="5334000" cy="4191000"/>
          </a:xfrm>
          <a:prstGeom prst="roundRect">
            <a:avLst>
              <a:gd name="adj" fmla="val 3636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6E6696">
                <a:alpha val="12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350000" y="1778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E6696"/>
                </a:solidFill>
                <a:latin typeface="Noto Sans SC"/>
                <a:ea typeface="Noto Sans SC"/>
                <a:cs typeface="Noto Sans SC"/>
                <a:sym typeface="Noto Sans SC"/>
              </a:rPr>
              <a:t>今日推进：需求验证访谈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350000" y="2413000"/>
            <a:ext cx="4826000" cy="1270000"/>
          </a:xfrm>
          <a:prstGeom prst="roundRect">
            <a:avLst>
              <a:gd name="adj" fmla="val 8000"/>
            </a:avLst>
          </a:prstGeom>
          <a:solidFill>
            <a:srgbClr val="F3F0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540500" y="2603500"/>
            <a:ext cx="457200" cy="4572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7112000" y="2603500"/>
            <a:ext cx="381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 A (25岁 · 互联网运营)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5A5A5F"/>
                </a:solidFill>
                <a:latin typeface="Noto Sans SC"/>
                <a:ea typeface="Noto Sans SC"/>
                <a:cs typeface="Noto Sans SC"/>
                <a:sym typeface="Noto Sans SC"/>
              </a:rPr>
              <a:t>“每天都想辞职，但又不知道下一份工作在哪，这种悬着的不确定感，是最折磨人的。”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350000" y="3937000"/>
            <a:ext cx="4826000" cy="1270000"/>
          </a:xfrm>
          <a:prstGeom prst="roundRect">
            <a:avLst>
              <a:gd name="adj" fmla="val 8000"/>
            </a:avLst>
          </a:prstGeom>
          <a:solidFill>
            <a:srgbClr val="F3F0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540500" y="4127500"/>
            <a:ext cx="457200" cy="4572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7112000" y="4127500"/>
            <a:ext cx="381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 B (28岁 · 金融分析师)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5A5A5F"/>
                </a:solidFill>
                <a:latin typeface="Noto Sans SC"/>
                <a:ea typeface="Noto Sans SC"/>
                <a:cs typeface="Noto Sans SC"/>
                <a:sym typeface="Noto Sans SC"/>
              </a:rPr>
              <a:t>“项目压力大到经常失眠，但跟朋友家人说都觉得矫情，负面情绪只能自己憋着消化。”</a:t>
            </a:r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350000" y="5397500"/>
            <a:ext cx="482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82B4"/>
                </a:solidFill>
                <a:latin typeface="Noto Sans SC"/>
                <a:ea typeface="Noto Sans SC"/>
                <a:cs typeface="Noto Sans SC"/>
                <a:sym typeface="Noto Sans SC"/>
              </a:rPr>
              <a:t> 访谈样本量：N=5 | 验证结论：痛点真实存在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市场与增长策略（如何冷启动）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3302000" cy="4572000"/>
          </a:xfrm>
          <a:prstGeom prst="roundRect">
            <a:avLst>
              <a:gd name="adj" fmla="val 6153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905000" y="1778000"/>
            <a:ext cx="1016000" cy="1016000"/>
          </a:xfrm>
          <a:prstGeom prst="ellipse">
            <a:avLst/>
          </a:prstGeom>
          <a:solidFill>
            <a:srgbClr val="A3B1A1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59000" y="20320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16000" y="2921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01 / 今日即可启动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556000"/>
            <a:ext cx="2794000" cy="1079500"/>
          </a:xfrm>
          <a:prstGeom prst="roundRect">
            <a:avLst>
              <a:gd name="adj" fmla="val 9411"/>
            </a:avLst>
          </a:prstGeom>
          <a:solidFill>
            <a:srgbClr val="F3F5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3683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核心动作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43000" y="40005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在垂直社群发布“职场情绪急救包”概念海报，快速招募内测体验用户。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826000"/>
            <a:ext cx="2794000" cy="1079500"/>
          </a:xfrm>
          <a:prstGeom prst="roundRect">
            <a:avLst>
              <a:gd name="adj" fmla="val 9411"/>
            </a:avLst>
          </a:prstGeom>
          <a:solidFill>
            <a:srgbClr val="F3F5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43000" y="4953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执行验证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143000" y="52705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已成功建立初始种子用户微信群，完成首批100+精准用户的冷启动储备。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445000" y="1524000"/>
            <a:ext cx="3302000" cy="4572000"/>
          </a:xfrm>
          <a:prstGeom prst="roundRect">
            <a:avLst>
              <a:gd name="adj" fmla="val 6153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588000" y="1778000"/>
            <a:ext cx="1016000" cy="1016000"/>
          </a:xfrm>
          <a:prstGeom prst="ellipse">
            <a:avLst/>
          </a:prstGeom>
          <a:solidFill>
            <a:srgbClr val="A3B1A1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842000" y="2032000"/>
            <a:ext cx="508000" cy="508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4699000" y="2921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02 / 内容营销引流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699000" y="3556000"/>
            <a:ext cx="2794000" cy="1079500"/>
          </a:xfrm>
          <a:prstGeom prst="roundRect">
            <a:avLst>
              <a:gd name="adj" fmla="val 9411"/>
            </a:avLst>
          </a:prstGeom>
          <a:solidFill>
            <a:srgbClr val="F3F5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826000" y="3683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分发策略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826000" y="40005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剪辑AI对话“高能片段”与互动游戏过程，制作成短内容分发至抖音、小红书。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699000" y="4826000"/>
            <a:ext cx="2794000" cy="1079500"/>
          </a:xfrm>
          <a:prstGeom prst="roundRect">
            <a:avLst>
              <a:gd name="adj" fmla="val 9411"/>
            </a:avLst>
          </a:prstGeom>
          <a:solidFill>
            <a:srgbClr val="F3F5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826000" y="4953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爆款话题示例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826000" y="52705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“当我跟AI说想辞职，它居然比我还激动！” —— 引发职场人的情感共鸣。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128000" y="1524000"/>
            <a:ext cx="3302000" cy="4572000"/>
          </a:xfrm>
          <a:prstGeom prst="roundRect">
            <a:avLst>
              <a:gd name="adj" fmla="val 6153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271000" y="1778000"/>
            <a:ext cx="1016000" cy="1016000"/>
          </a:xfrm>
          <a:prstGeom prst="ellipse">
            <a:avLst/>
          </a:prstGeom>
          <a:solidFill>
            <a:srgbClr val="A3B1A1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0" y="2032000"/>
            <a:ext cx="508000" cy="5080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8382000" y="2921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03 / 社群深度运营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382000" y="3556000"/>
            <a:ext cx="2794000" cy="1079500"/>
          </a:xfrm>
          <a:prstGeom prst="roundRect">
            <a:avLst>
              <a:gd name="adj" fmla="val 9411"/>
            </a:avLst>
          </a:prstGeom>
          <a:solidFill>
            <a:srgbClr val="F3F5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509000" y="3683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社群建设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509000" y="40005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建立“职场面壁者”主题社群，引导用户分享情绪故事，沉淀高质量UGC内容。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382000" y="4826000"/>
            <a:ext cx="2794000" cy="1079500"/>
          </a:xfrm>
          <a:prstGeom prst="roundRect">
            <a:avLst>
              <a:gd name="adj" fmla="val 9411"/>
            </a:avLst>
          </a:prstGeom>
          <a:solidFill>
            <a:srgbClr val="F3F5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509000" y="4953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运营价值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509000" y="52705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营造安全互助的氛围，让社群成为产品持续迭代的核心反馈来源。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商业模式与商业潜力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1651000"/>
          </a:xfrm>
          <a:prstGeom prst="roundRect">
            <a:avLst>
              <a:gd name="adj" fmla="val 12307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5A5082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841500"/>
            <a:ext cx="762000" cy="762000"/>
          </a:xfrm>
          <a:prstGeom prst="ellipse">
            <a:avLst/>
          </a:prstGeom>
          <a:solidFill>
            <a:srgbClr val="E6E1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04900" y="1993900"/>
            <a:ext cx="457200" cy="457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968500" y="18415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B端企业合作 · 员工福利包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968500" y="2286000"/>
            <a:ext cx="368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将产品打包为“情绪健康解决方案”，直接接入企业EAP服务体系，成为员工核心心理关怀福利。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524000"/>
            <a:ext cx="5207000" cy="1651000"/>
          </a:xfrm>
          <a:prstGeom prst="roundRect">
            <a:avLst>
              <a:gd name="adj" fmla="val 12307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5A5082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13500" y="1841500"/>
            <a:ext cx="762000" cy="762000"/>
          </a:xfrm>
          <a:prstGeom prst="ellipse">
            <a:avLst/>
          </a:prstGeom>
          <a:solidFill>
            <a:srgbClr val="E6E1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65900" y="1993900"/>
            <a:ext cx="457200" cy="4572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429500" y="18415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C端增值服务 · 个性化付费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429500" y="2286000"/>
            <a:ext cx="368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为用户提供深度职业规划报告、简历优化、以及专业心理咨询师的付费转介服务，挖掘用户LTV。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3429000"/>
            <a:ext cx="5207000" cy="1651000"/>
          </a:xfrm>
          <a:prstGeom prst="roundRect">
            <a:avLst>
              <a:gd name="adj" fmla="val 12307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5A5082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52500" y="3746500"/>
            <a:ext cx="762000" cy="762000"/>
          </a:xfrm>
          <a:prstGeom prst="ellipse">
            <a:avLst/>
          </a:prstGeom>
          <a:solidFill>
            <a:srgbClr val="E6E1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104900" y="3898900"/>
            <a:ext cx="457200" cy="4572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968500" y="37465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生态合作收入 · 流量分成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968500" y="4191000"/>
            <a:ext cx="368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与线下疗愈空间、招聘平台、职业教育机构建立深度链接，通过精准导流与业务分成实现商业共赢。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000" y="3429000"/>
            <a:ext cx="5207000" cy="1651000"/>
          </a:xfrm>
          <a:prstGeom prst="roundRect">
            <a:avLst>
              <a:gd name="adj" fmla="val 12307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5A5082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13500" y="3746500"/>
            <a:ext cx="762000" cy="762000"/>
          </a:xfrm>
          <a:prstGeom prst="ellipse">
            <a:avLst/>
          </a:prstGeom>
          <a:solidFill>
            <a:srgbClr val="E6E1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65900" y="3898900"/>
            <a:ext cx="457200" cy="4572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429500" y="37465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数据洞察服务 · 行业报告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429500" y="4191000"/>
            <a:ext cx="368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基于平台海量用户行为，发布匿名化的“行业情绪健康白皮书”，定向出售给HR咨询公司与研究院。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461000"/>
            <a:ext cx="10668000" cy="1016000"/>
          </a:xfrm>
          <a:prstGeom prst="roundRect">
            <a:avLst>
              <a:gd name="adj" fmla="val 20000"/>
            </a:avLst>
          </a:prstGeom>
          <a:solidFill>
            <a:srgbClr val="C0B7E8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5664200"/>
            <a:ext cx="609600" cy="6096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1905000" y="5588000"/>
            <a:ext cx="914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核心商业潜力：切入三大千亿级市场的价值交汇点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905000" y="59690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项目精准覆盖企业服务、心理健康、职业教育三大赛道，采用轻资产运营模式，具备极强的市场可复制性与规模化扩展能力。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团队介绍与分工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841500"/>
            <a:ext cx="1016000" cy="1016000"/>
          </a:xfrm>
          <a:prstGeom prst="ellipse">
            <a:avLst/>
          </a:prstGeom>
          <a:solidFill>
            <a:srgbClr val="A3B1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70000" y="20955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2286000" y="1778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张三</a:t>
            </a:r>
            <a:r>
              <a:rPr lang="en-US" b="false" i="false" strike="noStrike" u="none" sz="13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/ 产品负责人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286000" y="2286000"/>
            <a:ext cx="330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5年互联网产品经验，主导过百万级用户产品，擅长从0到1的产品规划与迭代。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286000" y="2921000"/>
            <a:ext cx="3302000" cy="635000"/>
          </a:xfrm>
          <a:prstGeom prst="roundRect">
            <a:avLst>
              <a:gd name="adj" fmla="val 12000"/>
            </a:avLst>
          </a:prstGeom>
          <a:solidFill>
            <a:srgbClr val="F1F3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413000" y="30226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今日分工：</a:t>
            </a:r>
            <a:r>
              <a:rPr lang="en-US" b="false" i="false" strike="noStrike" u="none" sz="1100">
                <a:solidFill>
                  <a:srgbClr val="595F66"/>
                </a:solidFill>
                <a:latin typeface="Noto Sans SC"/>
                <a:ea typeface="Noto Sans SC"/>
                <a:cs typeface="Noto Sans SC"/>
                <a:sym typeface="Noto Sans SC"/>
              </a:rPr>
              <a:t>完成产品逻辑流程图绘制与核心功能原型设计。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524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1841500"/>
            <a:ext cx="1016000" cy="1016000"/>
          </a:xfrm>
          <a:prstGeom prst="ellipse">
            <a:avLst/>
          </a:prstGeom>
          <a:solidFill>
            <a:srgbClr val="A3B1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731000" y="20955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747000" y="1778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李四</a:t>
            </a:r>
            <a:r>
              <a:rPr lang="en-US" b="false" i="false" strike="noStrike" u="none" sz="13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/ 心理学顾问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747000" y="2286000"/>
            <a:ext cx="330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应用心理学硕士，国家二级心理咨询师，专注于用户心理模型构建与体验优化。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747000" y="2921000"/>
            <a:ext cx="3302000" cy="635000"/>
          </a:xfrm>
          <a:prstGeom prst="roundRect">
            <a:avLst>
              <a:gd name="adj" fmla="val 12000"/>
            </a:avLst>
          </a:prstGeom>
          <a:solidFill>
            <a:srgbClr val="F1F3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874000" y="30226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今日分工：</a:t>
            </a:r>
            <a:r>
              <a:rPr lang="en-US" b="false" i="false" strike="noStrike" u="none" sz="1100">
                <a:solidFill>
                  <a:srgbClr val="595F66"/>
                </a:solidFill>
                <a:latin typeface="Noto Sans SC"/>
                <a:ea typeface="Noto Sans SC"/>
                <a:cs typeface="Noto Sans SC"/>
                <a:sym typeface="Noto Sans SC"/>
              </a:rPr>
              <a:t>制定AI对话脚本框架，并输出详细的用户访谈提纲。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4508500"/>
            <a:ext cx="1016000" cy="1016000"/>
          </a:xfrm>
          <a:prstGeom prst="ellipse">
            <a:avLst/>
          </a:prstGeom>
          <a:solidFill>
            <a:srgbClr val="A3B1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270000" y="4762500"/>
            <a:ext cx="508000" cy="508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2286000" y="4445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王五</a:t>
            </a:r>
            <a:r>
              <a:rPr lang="en-US" b="false" i="false" strike="noStrike" u="none" sz="13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/ 运营负责人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286000" y="4953000"/>
            <a:ext cx="330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3年内容与社群运营实战经验，擅长用户增长策略与种子用户社群的精细化运营。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286000" y="5588000"/>
            <a:ext cx="3302000" cy="635000"/>
          </a:xfrm>
          <a:prstGeom prst="roundRect">
            <a:avLst>
              <a:gd name="adj" fmla="val 12000"/>
            </a:avLst>
          </a:prstGeom>
          <a:solidFill>
            <a:srgbClr val="F1F3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413000" y="56896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今日分工：</a:t>
            </a:r>
            <a:r>
              <a:rPr lang="en-US" b="false" i="false" strike="noStrike" u="none" sz="1100">
                <a:solidFill>
                  <a:srgbClr val="595F66"/>
                </a:solidFill>
                <a:latin typeface="Noto Sans SC"/>
                <a:ea typeface="Noto Sans SC"/>
                <a:cs typeface="Noto Sans SC"/>
                <a:sym typeface="Noto Sans SC"/>
              </a:rPr>
              <a:t>完成5份深度用户访谈，并建立核心种子用户群。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23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77000" y="4508500"/>
            <a:ext cx="1016000" cy="1016000"/>
          </a:xfrm>
          <a:prstGeom prst="ellipse">
            <a:avLst/>
          </a:prstGeom>
          <a:solidFill>
            <a:srgbClr val="A3B1A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731000" y="4762500"/>
            <a:ext cx="508000" cy="5080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7747000" y="4445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赵六</a:t>
            </a:r>
            <a:r>
              <a:rPr lang="en-US" b="false" i="false" strike="noStrike" u="none" sz="1300">
                <a:solidFill>
                  <a:srgbClr val="A3B1A1"/>
                </a:solidFill>
                <a:latin typeface="Noto Sans SC"/>
                <a:ea typeface="Noto Sans SC"/>
                <a:cs typeface="Noto Sans SC"/>
                <a:sym typeface="Noto Sans SC"/>
              </a:rPr>
              <a:t>/ 技术负责人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747000" y="4953000"/>
            <a:ext cx="330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资深全栈工程师，精通小程序开发与AI应用部署，具备丰富的敏捷开发项目经验。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747000" y="5588000"/>
            <a:ext cx="3302000" cy="635000"/>
          </a:xfrm>
          <a:prstGeom prst="roundRect">
            <a:avLst>
              <a:gd name="adj" fmla="val 12000"/>
            </a:avLst>
          </a:prstGeom>
          <a:solidFill>
            <a:srgbClr val="F1F3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874000" y="56896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今日分工：</a:t>
            </a:r>
            <a:r>
              <a:rPr lang="en-US" b="false" i="false" strike="noStrike" u="none" sz="1100">
                <a:solidFill>
                  <a:srgbClr val="595F66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完成小程序前端页面的初步搭建，并完成AI接口的技术预研。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下一步规划与7天共创实验展望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4826000"/>
          </a:xfrm>
          <a:prstGeom prst="roundRect">
            <a:avLst>
              <a:gd name="adj" fmla="val 5263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254000" algn="tl" rotWithShape="false">
              <a:srgbClr val="948AC8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78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7E74C4"/>
                </a:solidFill>
                <a:latin typeface="Noto Sans SC"/>
                <a:ea typeface="Noto Sans SC"/>
                <a:cs typeface="Noto Sans SC"/>
                <a:sym typeface="Noto Sans SC"/>
              </a:rPr>
              <a:t>比赛后一周 · 执行蓝图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13000"/>
            <a:ext cx="4699000" cy="1143000"/>
          </a:xfrm>
          <a:prstGeom prst="roundRect">
            <a:avLst>
              <a:gd name="adj" fmla="val 13333"/>
            </a:avLst>
          </a:prstGeom>
          <a:solidFill>
            <a:srgbClr val="F3F0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70000" y="26670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2032000" y="2603500"/>
            <a:ext cx="355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Day 1-2 · 产品深度打磨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032000" y="3022600"/>
            <a:ext cx="342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A5F64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基于比赛反馈快速迭代原型，定向邀请50名种子用户开启封闭内测，收集核心痛点。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746500"/>
            <a:ext cx="4699000" cy="1143000"/>
          </a:xfrm>
          <a:prstGeom prst="roundRect">
            <a:avLst>
              <a:gd name="adj" fmla="val 13333"/>
            </a:avLst>
          </a:prstGeom>
          <a:solidFill>
            <a:srgbClr val="F3F0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270000" y="40005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2032000" y="3937000"/>
            <a:ext cx="355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Day 3-5 · 运营活动启动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032000" y="4356100"/>
            <a:ext cx="342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A5F64"/>
                </a:solidFill>
                <a:latin typeface="Noto Sans SC"/>
                <a:ea typeface="Noto Sans SC"/>
                <a:cs typeface="Noto Sans SC"/>
                <a:sym typeface="Noto Sans SC"/>
              </a:rPr>
              <a:t>正式上线“30天冷静期”打卡挑战，通过社群运营引导用户输出深度体验反馈。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5080000"/>
            <a:ext cx="4699000" cy="1143000"/>
          </a:xfrm>
          <a:prstGeom prst="roundRect">
            <a:avLst>
              <a:gd name="adj" fmla="val 13333"/>
            </a:avLst>
          </a:prstGeom>
          <a:solidFill>
            <a:srgbClr val="F3F0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270000" y="53340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2032000" y="5270500"/>
            <a:ext cx="355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Day 6-7 · 生态合作探索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032000" y="5689600"/>
            <a:ext cx="342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A5F64"/>
                </a:solidFill>
                <a:latin typeface="Noto Sans SC"/>
                <a:ea typeface="Noto Sans SC"/>
                <a:cs typeface="Noto Sans SC"/>
                <a:sym typeface="Noto Sans SC"/>
              </a:rPr>
              <a:t>对接线下心理场馆或咨询机构，洽谈初步合作意向，探索B端服务的落地可能性。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1524000"/>
            <a:ext cx="5207000" cy="4826000"/>
          </a:xfrm>
          <a:prstGeom prst="roundRect">
            <a:avLst>
              <a:gd name="adj" fmla="val 5263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254000" algn="tl" rotWithShape="false">
              <a:srgbClr val="948AC8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1778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7E74C4"/>
                </a:solidFill>
                <a:latin typeface="Noto Sans SC"/>
                <a:ea typeface="Noto Sans SC"/>
                <a:cs typeface="Noto Sans SC"/>
                <a:sym typeface="Noto Sans SC"/>
              </a:rPr>
              <a:t>7天共创实验 · 价值验证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2413000"/>
            <a:ext cx="4699000" cy="1143000"/>
          </a:xfrm>
          <a:prstGeom prst="roundRect">
            <a:avLst>
              <a:gd name="adj" fmla="val 13333"/>
            </a:avLst>
          </a:prstGeom>
          <a:solidFill>
            <a:srgbClr val="F0F6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731000" y="2667000"/>
            <a:ext cx="609600" cy="609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493000" y="2603500"/>
            <a:ext cx="355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第 1-2 天 · MVP 快速验证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493000" y="3022600"/>
            <a:ext cx="342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A5F64"/>
                </a:solidFill>
                <a:latin typeface="Noto Sans SC"/>
                <a:ea typeface="Noto Sans SC"/>
                <a:cs typeface="Noto Sans SC"/>
                <a:sym typeface="Noto Sans SC"/>
              </a:rPr>
              <a:t>锁定核心功能打磨MVP，将种子用户池扩大至100人，建立高频的用户反馈闭环。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477000" y="3746500"/>
            <a:ext cx="4699000" cy="1143000"/>
          </a:xfrm>
          <a:prstGeom prst="roundRect">
            <a:avLst>
              <a:gd name="adj" fmla="val 13333"/>
            </a:avLst>
          </a:prstGeom>
          <a:solidFill>
            <a:srgbClr val="F0F6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731000" y="4000500"/>
            <a:ext cx="609600" cy="6096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7493000" y="3937000"/>
            <a:ext cx="355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第 3-5 天 · 行为数据采集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493000" y="4356100"/>
            <a:ext cx="342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A5F64"/>
                </a:solidFill>
                <a:latin typeface="Noto Sans SC"/>
                <a:ea typeface="Noto Sans SC"/>
                <a:cs typeface="Noto Sans SC"/>
                <a:sym typeface="Noto Sans SC"/>
              </a:rPr>
              <a:t>大规模启动打卡挑战活动，通过后台监控用户的留存、活跃等真实行为数据，优化路径。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477000" y="5080000"/>
            <a:ext cx="4699000" cy="1143000"/>
          </a:xfrm>
          <a:prstGeom prst="roundRect">
            <a:avLst>
              <a:gd name="adj" fmla="val 13333"/>
            </a:avLst>
          </a:prstGeom>
          <a:solidFill>
            <a:srgbClr val="F0F6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731000" y="5334000"/>
            <a:ext cx="609600" cy="6096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7493000" y="5270500"/>
            <a:ext cx="355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第 6-7 天 · 商业模式跑通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493000" y="5689600"/>
            <a:ext cx="342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A5F64"/>
                </a:solidFill>
                <a:latin typeface="Noto Sans SC"/>
                <a:ea typeface="Noto Sans SC"/>
                <a:cs typeface="Noto Sans SC"/>
                <a:sym typeface="Noto Sans SC"/>
              </a:rPr>
              <a:t>力争达成至少一份初步合作协议，验证“线上工具+线下服务”的商业模式可行性。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今日核心成果总结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7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968500"/>
            <a:ext cx="889000" cy="889000"/>
          </a:xfrm>
          <a:prstGeom prst="ellipse">
            <a:avLst/>
          </a:prstGeom>
          <a:solidFill>
            <a:srgbClr val="A3B1A1">
              <a:alpha val="1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31900" y="21844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2159000" y="21336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产品定义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1750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完成了“负负得正”四步疗愈法的完整产品逻辑与交互流程图，确立了核心疗愈模型。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7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699000" y="1968500"/>
            <a:ext cx="889000" cy="889000"/>
          </a:xfrm>
          <a:prstGeom prst="ellipse">
            <a:avLst/>
          </a:prstGeom>
          <a:solidFill>
            <a:srgbClr val="A3B1A1">
              <a:alpha val="1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914900" y="2184400"/>
            <a:ext cx="457200" cy="457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842000" y="21336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需求验证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31750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深度访谈了5位目标用户，收集了核心痛点反馈；并成功建立了23人的初始种子用户社群。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651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7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82000" y="1968500"/>
            <a:ext cx="889000" cy="889000"/>
          </a:xfrm>
          <a:prstGeom prst="ellipse">
            <a:avLst/>
          </a:prstGeom>
          <a:solidFill>
            <a:srgbClr val="A3B1A1">
              <a:alpha val="1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597900" y="2184400"/>
            <a:ext cx="457200" cy="4572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9525000" y="21336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原型构建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82000" y="31750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完成了AI智能对话脚本框架V1.0，同步产出了“30天冷静期疗愈清单”V1.0的详细内容。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953000"/>
            <a:ext cx="10668000" cy="1143000"/>
          </a:xfrm>
          <a:prstGeom prst="roundRect">
            <a:avLst>
              <a:gd name="adj" fmla="val 17777"/>
            </a:avLst>
          </a:prstGeom>
          <a:solidFill>
            <a:srgbClr val="A3B1A1">
              <a:alpha val="1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51435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这是我们今天集中推进的成果！我们不仅有完整的疗愈想法，更有将这些想法快速落地的强大执行力！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159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让负面更负面，负负得正。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651000" y="3429000"/>
            <a:ext cx="889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我们已起步，期待与您共创，真正疗愈这一代职场人。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4826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 spc="400">
                <a:solidFill>
                  <a:srgbClr val="A3B1A1"/>
                </a:solidFill>
                <a:latin typeface="Noto Serif SC"/>
                <a:ea typeface="Noto Serif SC"/>
                <a:cs typeface="Noto Serif SC"/>
                <a:sym typeface="Noto Serif SC"/>
              </a:rPr>
              <a:t>THANKS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56515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 spc="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FOR WATCHING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